
<file path=[Content_Types].xml><?xml version="1.0" encoding="utf-8"?>
<Types xmlns="http://schemas.openxmlformats.org/package/2006/content-types">
  <Default Extension="png" ContentType="image/png"/>
  <Default Extension="wdp" ContentType="image/vnd.ms-photo"/>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8" r:id="rId3"/>
  </p:sldIdLst>
  <p:sldSz cx="14399895" cy="21599525"/>
  <p:notesSz cx="6858000" cy="9144000"/>
  <p:custDataLst>
    <p:tags r:id="rId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846" userDrawn="1">
          <p15:clr>
            <a:srgbClr val="A4A3A4"/>
          </p15:clr>
        </p15:guide>
        <p15:guide id="2" pos="452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8CC"/>
    <a:srgbClr val="C34E5C"/>
    <a:srgbClr val="C75967"/>
    <a:srgbClr val="C04655"/>
    <a:srgbClr val="ED1C24"/>
    <a:srgbClr val="FFFFFF"/>
    <a:srgbClr val="DCDCDC"/>
    <a:srgbClr val="F0F0F0"/>
    <a:srgbClr val="E6E6E6"/>
    <a:srgbClr val="C8C8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p:scale>
          <a:sx n="60" d="100"/>
          <a:sy n="60" d="100"/>
        </p:scale>
        <p:origin x="1452" y="-3296"/>
      </p:cViewPr>
      <p:guideLst>
        <p:guide orient="horz" pos="6846"/>
        <p:guide pos="4526"/>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gs" Target="tags/tag64.xml"/><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415906" y="2880133"/>
            <a:ext cx="11573859" cy="8096123"/>
          </a:xfrm>
        </p:spPr>
        <p:txBody>
          <a:bodyPr lIns="90000" tIns="46800" rIns="90000" bIns="46800" anchor="b" anchorCtr="0">
            <a:normAutofit/>
          </a:bodyPr>
          <a:lstStyle>
            <a:lvl1pPr algn="ctr">
              <a:defRPr sz="945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415906" y="11214378"/>
            <a:ext cx="11573859" cy="4637695"/>
          </a:xfrm>
        </p:spPr>
        <p:txBody>
          <a:bodyPr lIns="90000" tIns="46800" rIns="90000" bIns="46800">
            <a:normAutofit/>
          </a:bodyPr>
          <a:lstStyle>
            <a:lvl1pPr marL="0" indent="0" algn="ctr">
              <a:lnSpc>
                <a:spcPct val="110000"/>
              </a:lnSpc>
              <a:buNone/>
              <a:defRPr sz="3780" spc="200"/>
            </a:lvl1pPr>
            <a:lvl2pPr marL="720090" indent="0" algn="ctr">
              <a:buNone/>
              <a:defRPr sz="3150"/>
            </a:lvl2pPr>
            <a:lvl3pPr marL="1440180" indent="0" algn="ctr">
              <a:buNone/>
              <a:defRPr sz="2835"/>
            </a:lvl3pPr>
            <a:lvl4pPr marL="2160270" indent="0" algn="ctr">
              <a:buNone/>
              <a:defRPr sz="2520"/>
            </a:lvl4pPr>
            <a:lvl5pPr marL="2879725" indent="0" algn="ctr">
              <a:buNone/>
              <a:defRPr sz="2520"/>
            </a:lvl5pPr>
            <a:lvl6pPr marL="3599815" indent="0" algn="ctr">
              <a:buNone/>
              <a:defRPr sz="2520"/>
            </a:lvl6pPr>
            <a:lvl7pPr marL="4319905" indent="0" algn="ctr">
              <a:buNone/>
              <a:defRPr sz="2520"/>
            </a:lvl7pPr>
            <a:lvl8pPr marL="5039995" indent="0" algn="ctr">
              <a:buNone/>
              <a:defRPr sz="2520"/>
            </a:lvl8pPr>
            <a:lvl9pPr marL="5760085" indent="0" algn="ctr">
              <a:buNone/>
              <a:defRPr sz="252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718583" y="1916309"/>
            <a:ext cx="12955748" cy="2222465"/>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718583" y="4694391"/>
            <a:ext cx="12955748" cy="14990301"/>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2351339" y="12121506"/>
            <a:ext cx="9175748" cy="2415230"/>
          </a:xfrm>
        </p:spPr>
        <p:txBody>
          <a:bodyPr lIns="90000" tIns="46800" rIns="90000" bIns="46800" anchor="b" anchorCtr="0">
            <a:normAutofit/>
          </a:bodyPr>
          <a:lstStyle>
            <a:lvl1pPr>
              <a:defRPr sz="693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2351339" y="14536736"/>
            <a:ext cx="9175748" cy="2732725"/>
          </a:xfrm>
        </p:spPr>
        <p:txBody>
          <a:bodyPr lIns="90000" tIns="46800" rIns="90000" bIns="46800">
            <a:normAutofit/>
          </a:bodyPr>
          <a:lstStyle>
            <a:lvl1pPr marL="0" indent="0">
              <a:buNone/>
              <a:defRPr sz="2835">
                <a:solidFill>
                  <a:schemeClr val="tx1">
                    <a:lumMod val="65000"/>
                    <a:lumOff val="35000"/>
                  </a:schemeClr>
                </a:solidFill>
              </a:defRPr>
            </a:lvl1pPr>
            <a:lvl2pPr marL="720090" indent="0">
              <a:buNone/>
              <a:defRPr sz="2520">
                <a:solidFill>
                  <a:schemeClr val="tx1">
                    <a:tint val="75000"/>
                  </a:schemeClr>
                </a:solidFill>
              </a:defRPr>
            </a:lvl2pPr>
            <a:lvl3pPr marL="1440180" indent="0">
              <a:buNone/>
              <a:defRPr sz="2520">
                <a:solidFill>
                  <a:schemeClr val="tx1">
                    <a:tint val="75000"/>
                  </a:schemeClr>
                </a:solidFill>
              </a:defRPr>
            </a:lvl3pPr>
            <a:lvl4pPr marL="2160270" indent="0">
              <a:buNone/>
              <a:defRPr sz="2520">
                <a:solidFill>
                  <a:schemeClr val="tx1">
                    <a:tint val="75000"/>
                  </a:schemeClr>
                </a:solidFill>
              </a:defRPr>
            </a:lvl4pPr>
            <a:lvl5pPr marL="2879725" indent="0">
              <a:buNone/>
              <a:defRPr sz="2520">
                <a:solidFill>
                  <a:schemeClr val="tx1">
                    <a:tint val="75000"/>
                  </a:schemeClr>
                </a:solidFill>
              </a:defRPr>
            </a:lvl5pPr>
            <a:lvl6pPr marL="3599815" indent="0">
              <a:buNone/>
              <a:defRPr sz="2520">
                <a:solidFill>
                  <a:schemeClr val="tx1">
                    <a:tint val="75000"/>
                  </a:schemeClr>
                </a:solidFill>
              </a:defRPr>
            </a:lvl6pPr>
            <a:lvl7pPr marL="4319905" indent="0">
              <a:buNone/>
              <a:defRPr sz="2520">
                <a:solidFill>
                  <a:schemeClr val="tx1">
                    <a:tint val="75000"/>
                  </a:schemeClr>
                </a:solidFill>
              </a:defRPr>
            </a:lvl7pPr>
            <a:lvl8pPr marL="5039995" indent="0">
              <a:buNone/>
              <a:defRPr sz="2520">
                <a:solidFill>
                  <a:schemeClr val="tx1">
                    <a:tint val="75000"/>
                  </a:schemeClr>
                </a:solidFill>
              </a:defRPr>
            </a:lvl8pPr>
            <a:lvl9pPr marL="5760085" indent="0">
              <a:buNone/>
              <a:defRPr sz="252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718583" y="1916309"/>
            <a:ext cx="12955748" cy="2222465"/>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sz="half" idx="1"/>
            <p:custDataLst>
              <p:tags r:id="rId3"/>
            </p:custDataLst>
          </p:nvPr>
        </p:nvSpPr>
        <p:spPr>
          <a:xfrm>
            <a:off x="718583" y="4728408"/>
            <a:ext cx="6114331" cy="14956283"/>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custDataLst>
              <p:tags r:id="rId4"/>
            </p:custDataLst>
          </p:nvPr>
        </p:nvSpPr>
        <p:spPr>
          <a:xfrm>
            <a:off x="7572756" y="4728408"/>
            <a:ext cx="6114331" cy="14956283"/>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718583" y="1916309"/>
            <a:ext cx="12955748" cy="2222465"/>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718583" y="4501626"/>
            <a:ext cx="6309921" cy="1201945"/>
          </a:xfrm>
        </p:spPr>
        <p:txBody>
          <a:bodyPr lIns="101600" tIns="38100" rIns="76200" bIns="38100" anchor="t" anchorCtr="0">
            <a:normAutofit/>
          </a:bodyPr>
          <a:lstStyle>
            <a:lvl1pPr marL="0" indent="0">
              <a:lnSpc>
                <a:spcPct val="100000"/>
              </a:lnSpc>
              <a:buNone/>
              <a:defRPr sz="3150" b="1" spc="200">
                <a:solidFill>
                  <a:schemeClr val="tx1">
                    <a:lumMod val="75000"/>
                    <a:lumOff val="25000"/>
                  </a:schemeClr>
                </a:solidFill>
              </a:defRPr>
            </a:lvl1pPr>
            <a:lvl2pPr marL="720090" indent="0">
              <a:buNone/>
              <a:defRPr sz="3150" b="1"/>
            </a:lvl2pPr>
            <a:lvl3pPr marL="1440180" indent="0">
              <a:buNone/>
              <a:defRPr sz="2835" b="1"/>
            </a:lvl3pPr>
            <a:lvl4pPr marL="2160270" indent="0">
              <a:buNone/>
              <a:defRPr sz="2520" b="1"/>
            </a:lvl4pPr>
            <a:lvl5pPr marL="2879725" indent="0">
              <a:buNone/>
              <a:defRPr sz="2520" b="1"/>
            </a:lvl5pPr>
            <a:lvl6pPr marL="3599815" indent="0">
              <a:buNone/>
              <a:defRPr sz="2520" b="1"/>
            </a:lvl6pPr>
            <a:lvl7pPr marL="4319905" indent="0">
              <a:buNone/>
              <a:defRPr sz="2520" b="1"/>
            </a:lvl7pPr>
            <a:lvl8pPr marL="5039995" indent="0">
              <a:buNone/>
              <a:defRPr sz="2520" b="1"/>
            </a:lvl8pPr>
            <a:lvl9pPr marL="5760085" indent="0">
              <a:buNone/>
              <a:defRPr sz="252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718583" y="5839641"/>
            <a:ext cx="6309921" cy="13845051"/>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custDataLst>
              <p:tags r:id="rId5"/>
            </p:custDataLst>
          </p:nvPr>
        </p:nvSpPr>
        <p:spPr>
          <a:xfrm>
            <a:off x="7365059" y="4478094"/>
            <a:ext cx="6309921" cy="1201945"/>
          </a:xfrm>
        </p:spPr>
        <p:txBody>
          <a:bodyPr vert="horz" lIns="101600" tIns="38100" rIns="76200" bIns="38100" rtlCol="0" anchor="t" anchorCtr="0">
            <a:normAutofit/>
          </a:bodyPr>
          <a:lstStyle>
            <a:lvl1pPr marL="0" indent="0">
              <a:lnSpc>
                <a:spcPct val="100000"/>
              </a:lnSpc>
              <a:buNone/>
              <a:defRPr sz="3150" b="1" spc="200">
                <a:solidFill>
                  <a:schemeClr val="tx1">
                    <a:lumMod val="75000"/>
                    <a:lumOff val="25000"/>
                  </a:schemeClr>
                </a:solidFill>
              </a:defRPr>
            </a:lvl1pPr>
            <a:lvl2pPr marL="720090" indent="0">
              <a:buNone/>
              <a:defRPr sz="3150" b="1"/>
            </a:lvl2pPr>
            <a:lvl3pPr marL="1440180" indent="0">
              <a:buNone/>
              <a:defRPr sz="2835" b="1"/>
            </a:lvl3pPr>
            <a:lvl4pPr marL="2160270" indent="0">
              <a:buNone/>
              <a:defRPr sz="2520" b="1"/>
            </a:lvl4pPr>
            <a:lvl5pPr marL="2879725" indent="0">
              <a:buNone/>
              <a:defRPr sz="2520" b="1"/>
            </a:lvl5pPr>
            <a:lvl6pPr marL="3599815" indent="0">
              <a:buNone/>
              <a:defRPr sz="2520" b="1"/>
            </a:lvl6pPr>
            <a:lvl7pPr marL="4319905" indent="0">
              <a:buNone/>
              <a:defRPr sz="2520" b="1"/>
            </a:lvl7pPr>
            <a:lvl8pPr marL="5039995" indent="0">
              <a:buNone/>
              <a:defRPr sz="2520" b="1"/>
            </a:lvl8pPr>
            <a:lvl9pPr marL="5760085" indent="0">
              <a:buNone/>
              <a:defRPr sz="2520" b="1"/>
            </a:lvl9pPr>
          </a:lstStyle>
          <a:p>
            <a:pPr lvl="0"/>
            <a:r>
              <a:rPr lang="zh-CN" altLang="en-US"/>
              <a:t>单击此处编辑文本</a:t>
            </a:r>
            <a:endParaRPr lang="zh-CN" altLang="en-US"/>
          </a:p>
        </p:txBody>
      </p:sp>
      <p:sp>
        <p:nvSpPr>
          <p:cNvPr id="6" name="内容占位符 5"/>
          <p:cNvSpPr>
            <a:spLocks noGrp="1"/>
          </p:cNvSpPr>
          <p:nvPr>
            <p:ph sz="quarter" idx="4"/>
            <p:custDataLst>
              <p:tags r:id="rId6"/>
            </p:custDataLst>
          </p:nvPr>
        </p:nvSpPr>
        <p:spPr>
          <a:xfrm>
            <a:off x="7365059" y="5839641"/>
            <a:ext cx="6309921" cy="13845051"/>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718583" y="1916309"/>
            <a:ext cx="12955748" cy="2222465"/>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718583" y="4898495"/>
            <a:ext cx="6180800" cy="14514058"/>
          </a:xfrm>
        </p:spPr>
        <p:txBody>
          <a:bodyPr vert="horz" lIns="90000" tIns="46800" rIns="90000" bIns="46800" rtlCol="0">
            <a:normAutofit/>
          </a:bodyPr>
          <a:lstStyle>
            <a:lvl1pPr>
              <a:buNone/>
              <a:defRPr sz="2520"/>
            </a:lvl1pPr>
          </a:lstStyle>
          <a:p>
            <a:pPr lvl="0"/>
            <a:endParaRPr lang="zh-CN" altLang="en-US"/>
          </a:p>
        </p:txBody>
      </p:sp>
      <p:sp>
        <p:nvSpPr>
          <p:cNvPr id="4" name="文本占位符 3"/>
          <p:cNvSpPr>
            <a:spLocks noGrp="1"/>
          </p:cNvSpPr>
          <p:nvPr>
            <p:ph type="body" sz="half" idx="2"/>
            <p:custDataLst>
              <p:tags r:id="rId3"/>
            </p:custDataLst>
          </p:nvPr>
        </p:nvSpPr>
        <p:spPr>
          <a:xfrm>
            <a:off x="7500473" y="4898495"/>
            <a:ext cx="6173858" cy="14514058"/>
          </a:xfrm>
        </p:spPr>
        <p:txBody>
          <a:bodyPr vert="horz" lIns="90000" tIns="46800" rIns="90000" bIns="46800" rtlCol="0">
            <a:normAutofit/>
          </a:bodyPr>
          <a:lstStyle>
            <a:lvl1pPr>
              <a:buNone/>
              <a:defRPr sz="2520"/>
            </a:lvl1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2088347" y="2880133"/>
            <a:ext cx="1233071" cy="15840734"/>
          </a:xfrm>
        </p:spPr>
        <p:txBody>
          <a:bodyPr vert="eaVert" lIns="90000" tIns="46800" rIns="90000" bIns="46800" rtlCol="0" anchor="ctr" anchorCtr="0">
            <a:normAutofit/>
          </a:bodyPr>
          <a:lstStyle>
            <a:lvl1pPr>
              <a:buNone/>
              <a:defRPr sz="4410"/>
            </a:lvl1pPr>
          </a:lstStyle>
          <a:p>
            <a:pPr lvl="0"/>
            <a:r>
              <a:rPr lang="zh-CN" altLang="en-US"/>
              <a:t>单击此处编辑标题</a:t>
            </a:r>
            <a:endParaRPr lang="zh-CN" altLang="en-US"/>
          </a:p>
        </p:txBody>
      </p:sp>
      <p:sp>
        <p:nvSpPr>
          <p:cNvPr id="3" name="竖排文字占位符 2"/>
          <p:cNvSpPr>
            <a:spLocks noGrp="1"/>
          </p:cNvSpPr>
          <p:nvPr>
            <p:ph type="body" orient="vert" idx="1"/>
            <p:custDataLst>
              <p:tags r:id="rId3"/>
            </p:custDataLst>
          </p:nvPr>
        </p:nvSpPr>
        <p:spPr>
          <a:xfrm>
            <a:off x="1080000" y="2880133"/>
            <a:ext cx="10829764" cy="15840734"/>
          </a:xfrm>
        </p:spPr>
        <p:txBody>
          <a:bodyPr vert="eaVert" lIns="46800" tIns="46800" rIns="46800" bIns="46800"/>
          <a:lstStyle>
            <a:lvl1pPr marL="360045" indent="-360045">
              <a:spcAft>
                <a:spcPts val="1000"/>
              </a:spcAft>
              <a:defRPr spc="300"/>
            </a:lvl1pPr>
            <a:lvl2pPr marL="1080135" indent="-360045">
              <a:defRPr spc="300"/>
            </a:lvl2pPr>
            <a:lvl3pPr marL="1800225" indent="-360045">
              <a:defRPr spc="300"/>
            </a:lvl3pPr>
            <a:lvl4pPr marL="2520315" indent="-360045">
              <a:defRPr spc="300"/>
            </a:lvl4pPr>
            <a:lvl5pPr marL="3239770" indent="-360045">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718583" y="2437908"/>
            <a:ext cx="12960000" cy="1726946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415906" y="7823984"/>
            <a:ext cx="11573859" cy="3208968"/>
          </a:xfrm>
        </p:spPr>
        <p:txBody>
          <a:bodyPr vert="horz" lIns="90000" tIns="46800" rIns="90000" bIns="46800" rtlCol="0" anchor="t" anchorCtr="0">
            <a:normAutofit/>
          </a:bodyPr>
          <a:lstStyle>
            <a:lvl1pPr algn="ctr">
              <a:defRPr sz="9450"/>
            </a:lvl1pPr>
          </a:lstStyle>
          <a:p>
            <a:pPr lvl="0"/>
            <a:r>
              <a:rPr lang="zh-CN" altLang="en-US"/>
              <a:t>单击此处编辑标题</a:t>
            </a:r>
            <a:endParaRPr lang="zh-CN" altLang="en-US"/>
          </a:p>
        </p:txBody>
      </p:sp>
      <p:sp>
        <p:nvSpPr>
          <p:cNvPr id="7" name="文本占位符 6"/>
          <p:cNvSpPr>
            <a:spLocks noGrp="1"/>
          </p:cNvSpPr>
          <p:nvPr>
            <p:ph type="body" sz="quarter" idx="13"/>
            <p:custDataLst>
              <p:tags r:id="rId6"/>
            </p:custDataLst>
          </p:nvPr>
        </p:nvSpPr>
        <p:spPr>
          <a:xfrm>
            <a:off x="1415906" y="11214378"/>
            <a:ext cx="11573859" cy="1485423"/>
          </a:xfrm>
        </p:spPr>
        <p:txBody>
          <a:bodyPr lIns="90000" tIns="46800" rIns="90000" bIns="46800">
            <a:normAutofit/>
          </a:bodyPr>
          <a:lstStyle>
            <a:lvl1pPr algn="ctr">
              <a:lnSpc>
                <a:spcPct val="110000"/>
              </a:lnSpc>
              <a:buNone/>
              <a:defRPr sz="378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718583" y="1916309"/>
            <a:ext cx="12955748" cy="2222465"/>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718583" y="4694391"/>
            <a:ext cx="12955748" cy="14990301"/>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722835" y="19888795"/>
            <a:ext cx="3188976" cy="997842"/>
          </a:xfrm>
          <a:prstGeom prst="rect">
            <a:avLst/>
          </a:prstGeom>
        </p:spPr>
        <p:txBody>
          <a:bodyPr vert="horz" lIns="91440" tIns="45720" rIns="91440" bIns="45720" rtlCol="0" anchor="ctr">
            <a:normAutofit/>
          </a:bodyPr>
          <a:lstStyle>
            <a:lvl1pPr algn="l">
              <a:defRPr sz="1575"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861417" y="19888795"/>
            <a:ext cx="4677165" cy="997842"/>
          </a:xfrm>
          <a:prstGeom prst="rect">
            <a:avLst/>
          </a:prstGeom>
        </p:spPr>
        <p:txBody>
          <a:bodyPr vert="horz" lIns="91440" tIns="45720" rIns="91440" bIns="45720" rtlCol="0" anchor="ctr">
            <a:normAutofit/>
          </a:bodyPr>
          <a:lstStyle>
            <a:lvl1pPr algn="ctr">
              <a:defRPr sz="1575"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10485355" y="19888795"/>
            <a:ext cx="3188976" cy="997842"/>
          </a:xfrm>
          <a:prstGeom prst="rect">
            <a:avLst/>
          </a:prstGeom>
        </p:spPr>
        <p:txBody>
          <a:bodyPr vert="horz" lIns="91440" tIns="45720" rIns="91440" bIns="45720" rtlCol="0" anchor="ctr">
            <a:normAutofit/>
          </a:bodyPr>
          <a:lstStyle>
            <a:lvl1pPr algn="r">
              <a:defRPr sz="1575"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440180" rtl="0" eaLnBrk="1" fontAlgn="auto" latinLnBrk="0" hangingPunct="1">
        <a:lnSpc>
          <a:spcPct val="100000"/>
        </a:lnSpc>
        <a:spcBef>
          <a:spcPct val="0"/>
        </a:spcBef>
        <a:buNone/>
        <a:defRPr sz="5670" b="0" u="none" strike="noStrike" kern="1200" cap="none" spc="300" normalizeH="0" baseline="0">
          <a:solidFill>
            <a:schemeClr val="tx1">
              <a:lumMod val="85000"/>
              <a:lumOff val="15000"/>
            </a:schemeClr>
          </a:solidFill>
          <a:uFillTx/>
          <a:latin typeface="+mj-lt"/>
          <a:ea typeface="+mj-ea"/>
          <a:cs typeface="+mj-cs"/>
        </a:defRPr>
      </a:lvl1pPr>
    </p:titleStyle>
    <p:bodyStyle>
      <a:lvl1pPr marL="360045" indent="-360045" algn="l" defTabSz="1440180" rtl="0" eaLnBrk="1" fontAlgn="auto" latinLnBrk="0" hangingPunct="1">
        <a:lnSpc>
          <a:spcPct val="130000"/>
        </a:lnSpc>
        <a:spcBef>
          <a:spcPct val="1000"/>
        </a:spcBef>
        <a:spcAft>
          <a:spcPts val="1000"/>
        </a:spcAft>
        <a:buFont typeface="Arial" panose="020B0704020202090204" pitchFamily="34" charset="0"/>
        <a:buChar char="●"/>
        <a:defRPr sz="2835" u="none" strike="noStrike" kern="1200" cap="none" spc="150" normalizeH="0" baseline="0">
          <a:solidFill>
            <a:schemeClr val="tx1">
              <a:lumMod val="65000"/>
              <a:lumOff val="35000"/>
            </a:schemeClr>
          </a:solidFill>
          <a:uFillTx/>
          <a:latin typeface="+mn-lt"/>
          <a:ea typeface="+mn-ea"/>
          <a:cs typeface="+mn-cs"/>
        </a:defRPr>
      </a:lvl1pPr>
      <a:lvl2pPr marL="1080135" indent="-360045" algn="l" defTabSz="1440180" rtl="0" eaLnBrk="1" fontAlgn="auto" latinLnBrk="0" hangingPunct="1">
        <a:lnSpc>
          <a:spcPct val="120000"/>
        </a:lnSpc>
        <a:spcBef>
          <a:spcPct val="1000"/>
        </a:spcBef>
        <a:spcAft>
          <a:spcPts val="600"/>
        </a:spcAft>
        <a:buFont typeface="Arial" panose="020B0704020202090204" pitchFamily="34" charset="0"/>
        <a:buChar char="●"/>
        <a:tabLst>
          <a:tab pos="2534920" algn="l"/>
          <a:tab pos="2534920" algn="l"/>
          <a:tab pos="2534920" algn="l"/>
          <a:tab pos="2534920" algn="l"/>
        </a:tabLst>
        <a:defRPr sz="2520" u="none" strike="noStrike" kern="1200" cap="none" spc="150" normalizeH="0" baseline="0">
          <a:solidFill>
            <a:schemeClr val="tx1">
              <a:lumMod val="65000"/>
              <a:lumOff val="35000"/>
            </a:schemeClr>
          </a:solidFill>
          <a:uFillTx/>
          <a:latin typeface="+mn-lt"/>
          <a:ea typeface="+mn-ea"/>
          <a:cs typeface="+mn-cs"/>
        </a:defRPr>
      </a:lvl2pPr>
      <a:lvl3pPr marL="1800225" indent="-360045" algn="l" defTabSz="1440180" rtl="0" eaLnBrk="1" fontAlgn="auto" latinLnBrk="0" hangingPunct="1">
        <a:lnSpc>
          <a:spcPct val="120000"/>
        </a:lnSpc>
        <a:spcBef>
          <a:spcPct val="1000"/>
        </a:spcBef>
        <a:spcAft>
          <a:spcPts val="600"/>
        </a:spcAft>
        <a:buFont typeface="Arial" panose="020B0704020202090204" pitchFamily="34" charset="0"/>
        <a:buChar char="●"/>
        <a:defRPr sz="2520" u="none" strike="noStrike" kern="1200" cap="none" spc="150" normalizeH="0" baseline="0">
          <a:solidFill>
            <a:schemeClr val="tx1">
              <a:lumMod val="65000"/>
              <a:lumOff val="35000"/>
            </a:schemeClr>
          </a:solidFill>
          <a:uFillTx/>
          <a:latin typeface="+mn-lt"/>
          <a:ea typeface="+mn-ea"/>
          <a:cs typeface="+mn-cs"/>
        </a:defRPr>
      </a:lvl3pPr>
      <a:lvl4pPr marL="2520315" indent="-360045" algn="l" defTabSz="1440180" rtl="0" eaLnBrk="1" fontAlgn="auto" latinLnBrk="0" hangingPunct="1">
        <a:lnSpc>
          <a:spcPct val="120000"/>
        </a:lnSpc>
        <a:spcBef>
          <a:spcPct val="1000"/>
        </a:spcBef>
        <a:spcAft>
          <a:spcPts val="300"/>
        </a:spcAft>
        <a:buFont typeface="Wingdings" panose="05000000000000000000" charset="0"/>
        <a:buChar char=""/>
        <a:defRPr sz="2205" u="none" strike="noStrike" kern="1200" cap="none" spc="150" normalizeH="0" baseline="0">
          <a:solidFill>
            <a:schemeClr val="tx1">
              <a:lumMod val="65000"/>
              <a:lumOff val="35000"/>
            </a:schemeClr>
          </a:solidFill>
          <a:uFillTx/>
          <a:latin typeface="+mn-lt"/>
          <a:ea typeface="+mn-ea"/>
          <a:cs typeface="+mn-cs"/>
        </a:defRPr>
      </a:lvl4pPr>
      <a:lvl5pPr marL="3239770" indent="-360045" algn="l" defTabSz="1440180" rtl="0" eaLnBrk="1" fontAlgn="auto" latinLnBrk="0" hangingPunct="1">
        <a:lnSpc>
          <a:spcPct val="120000"/>
        </a:lnSpc>
        <a:spcBef>
          <a:spcPct val="1000"/>
        </a:spcBef>
        <a:spcAft>
          <a:spcPts val="300"/>
        </a:spcAft>
        <a:buFont typeface="Arial" panose="020B0704020202090204" pitchFamily="34" charset="0"/>
        <a:buChar char="•"/>
        <a:defRPr sz="2205" u="none" strike="noStrike" kern="1200" cap="none" spc="150" normalizeH="0" baseline="0">
          <a:solidFill>
            <a:schemeClr val="tx1">
              <a:lumMod val="65000"/>
              <a:lumOff val="35000"/>
            </a:schemeClr>
          </a:solidFill>
          <a:uFillTx/>
          <a:latin typeface="+mn-lt"/>
          <a:ea typeface="+mn-ea"/>
          <a:cs typeface="+mn-cs"/>
        </a:defRPr>
      </a:lvl5pPr>
      <a:lvl6pPr marL="3959860" indent="-360045" algn="l" defTabSz="1440180" rtl="0" eaLnBrk="1" latinLnBrk="0" hangingPunct="1">
        <a:lnSpc>
          <a:spcPct val="90000"/>
        </a:lnSpc>
        <a:spcBef>
          <a:spcPts val="790"/>
        </a:spcBef>
        <a:buFont typeface="Arial" panose="020B0704020202090204" pitchFamily="34" charset="0"/>
        <a:buChar char="•"/>
        <a:defRPr sz="2835" kern="1200">
          <a:solidFill>
            <a:schemeClr val="tx1"/>
          </a:solidFill>
          <a:latin typeface="+mn-lt"/>
          <a:ea typeface="+mn-ea"/>
          <a:cs typeface="+mn-cs"/>
        </a:defRPr>
      </a:lvl6pPr>
      <a:lvl7pPr marL="4679950" indent="-360045" algn="l" defTabSz="1440180" rtl="0" eaLnBrk="1" latinLnBrk="0" hangingPunct="1">
        <a:lnSpc>
          <a:spcPct val="90000"/>
        </a:lnSpc>
        <a:spcBef>
          <a:spcPts val="790"/>
        </a:spcBef>
        <a:buFont typeface="Arial" panose="020B0704020202090204" pitchFamily="34" charset="0"/>
        <a:buChar char="•"/>
        <a:defRPr sz="2835" kern="1200">
          <a:solidFill>
            <a:schemeClr val="tx1"/>
          </a:solidFill>
          <a:latin typeface="+mn-lt"/>
          <a:ea typeface="+mn-ea"/>
          <a:cs typeface="+mn-cs"/>
        </a:defRPr>
      </a:lvl7pPr>
      <a:lvl8pPr marL="5400040" indent="-360045" algn="l" defTabSz="1440180" rtl="0" eaLnBrk="1" latinLnBrk="0" hangingPunct="1">
        <a:lnSpc>
          <a:spcPct val="90000"/>
        </a:lnSpc>
        <a:spcBef>
          <a:spcPts val="790"/>
        </a:spcBef>
        <a:buFont typeface="Arial" panose="020B0704020202090204" pitchFamily="34" charset="0"/>
        <a:buChar char="•"/>
        <a:defRPr sz="2835" kern="1200">
          <a:solidFill>
            <a:schemeClr val="tx1"/>
          </a:solidFill>
          <a:latin typeface="+mn-lt"/>
          <a:ea typeface="+mn-ea"/>
          <a:cs typeface="+mn-cs"/>
        </a:defRPr>
      </a:lvl8pPr>
      <a:lvl9pPr marL="6120130" indent="-360045" algn="l" defTabSz="1440180" rtl="0" eaLnBrk="1" latinLnBrk="0" hangingPunct="1">
        <a:lnSpc>
          <a:spcPct val="90000"/>
        </a:lnSpc>
        <a:spcBef>
          <a:spcPts val="790"/>
        </a:spcBef>
        <a:buFont typeface="Arial" panose="020B0704020202090204" pitchFamily="34" charset="0"/>
        <a:buChar char="•"/>
        <a:defRPr sz="2835" kern="1200">
          <a:solidFill>
            <a:schemeClr val="tx1"/>
          </a:solidFill>
          <a:latin typeface="+mn-lt"/>
          <a:ea typeface="+mn-ea"/>
          <a:cs typeface="+mn-cs"/>
        </a:defRPr>
      </a:lvl9pPr>
    </p:bodyStyle>
    <p:otherStyle>
      <a:defPPr>
        <a:defRPr lang="zh-CN"/>
      </a:defPPr>
      <a:lvl1pPr marL="0" algn="l" defTabSz="1440180" rtl="0" eaLnBrk="1" latinLnBrk="0" hangingPunct="1">
        <a:defRPr sz="2835" kern="1200">
          <a:solidFill>
            <a:schemeClr val="tx1"/>
          </a:solidFill>
          <a:latin typeface="+mn-lt"/>
          <a:ea typeface="+mn-ea"/>
          <a:cs typeface="+mn-cs"/>
        </a:defRPr>
      </a:lvl1pPr>
      <a:lvl2pPr marL="720090" algn="l" defTabSz="1440180" rtl="0" eaLnBrk="1" latinLnBrk="0" hangingPunct="1">
        <a:defRPr sz="2835" kern="1200">
          <a:solidFill>
            <a:schemeClr val="tx1"/>
          </a:solidFill>
          <a:latin typeface="+mn-lt"/>
          <a:ea typeface="+mn-ea"/>
          <a:cs typeface="+mn-cs"/>
        </a:defRPr>
      </a:lvl2pPr>
      <a:lvl3pPr marL="1440180" algn="l" defTabSz="1440180" rtl="0" eaLnBrk="1" latinLnBrk="0" hangingPunct="1">
        <a:defRPr sz="2835" kern="1200">
          <a:solidFill>
            <a:schemeClr val="tx1"/>
          </a:solidFill>
          <a:latin typeface="+mn-lt"/>
          <a:ea typeface="+mn-ea"/>
          <a:cs typeface="+mn-cs"/>
        </a:defRPr>
      </a:lvl3pPr>
      <a:lvl4pPr marL="2160270" algn="l" defTabSz="1440180" rtl="0" eaLnBrk="1" latinLnBrk="0" hangingPunct="1">
        <a:defRPr sz="2835" kern="1200">
          <a:solidFill>
            <a:schemeClr val="tx1"/>
          </a:solidFill>
          <a:latin typeface="+mn-lt"/>
          <a:ea typeface="+mn-ea"/>
          <a:cs typeface="+mn-cs"/>
        </a:defRPr>
      </a:lvl4pPr>
      <a:lvl5pPr marL="2879725" algn="l" defTabSz="1440180" rtl="0" eaLnBrk="1" latinLnBrk="0" hangingPunct="1">
        <a:defRPr sz="2835" kern="1200">
          <a:solidFill>
            <a:schemeClr val="tx1"/>
          </a:solidFill>
          <a:latin typeface="+mn-lt"/>
          <a:ea typeface="+mn-ea"/>
          <a:cs typeface="+mn-cs"/>
        </a:defRPr>
      </a:lvl5pPr>
      <a:lvl6pPr marL="3599815" algn="l" defTabSz="1440180" rtl="0" eaLnBrk="1" latinLnBrk="0" hangingPunct="1">
        <a:defRPr sz="2835" kern="1200">
          <a:solidFill>
            <a:schemeClr val="tx1"/>
          </a:solidFill>
          <a:latin typeface="+mn-lt"/>
          <a:ea typeface="+mn-ea"/>
          <a:cs typeface="+mn-cs"/>
        </a:defRPr>
      </a:lvl6pPr>
      <a:lvl7pPr marL="4319905" algn="l" defTabSz="1440180" rtl="0" eaLnBrk="1" latinLnBrk="0" hangingPunct="1">
        <a:defRPr sz="2835" kern="1200">
          <a:solidFill>
            <a:schemeClr val="tx1"/>
          </a:solidFill>
          <a:latin typeface="+mn-lt"/>
          <a:ea typeface="+mn-ea"/>
          <a:cs typeface="+mn-cs"/>
        </a:defRPr>
      </a:lvl7pPr>
      <a:lvl8pPr marL="5039995" algn="l" defTabSz="1440180" rtl="0" eaLnBrk="1" latinLnBrk="0" hangingPunct="1">
        <a:defRPr sz="2835" kern="1200">
          <a:solidFill>
            <a:schemeClr val="tx1"/>
          </a:solidFill>
          <a:latin typeface="+mn-lt"/>
          <a:ea typeface="+mn-ea"/>
          <a:cs typeface="+mn-cs"/>
        </a:defRPr>
      </a:lvl8pPr>
      <a:lvl9pPr marL="5760085" algn="l" defTabSz="1440180" rtl="0" eaLnBrk="1" latinLnBrk="0" hangingPunct="1">
        <a:defRPr sz="283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 Id="rId3" Type="http://schemas.openxmlformats.org/officeDocument/2006/relationships/image" Target="../media/image3.jpeg"/><Relationship Id="rId2" Type="http://schemas.microsoft.com/office/2007/relationships/hdphoto" Target="../media/image2.wdp"/><Relationship Id="rId10"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矩形 124"/>
          <p:cNvSpPr/>
          <p:nvPr/>
        </p:nvSpPr>
        <p:spPr>
          <a:xfrm>
            <a:off x="7185660" y="9180830"/>
            <a:ext cx="7077710" cy="12028170"/>
          </a:xfrm>
          <a:prstGeom prst="rect">
            <a:avLst/>
          </a:prstGeom>
          <a:ln w="6350">
            <a:prstDash val="sysDot"/>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pic>
        <p:nvPicPr>
          <p:cNvPr id="8" name="Picture 3"/>
          <p:cNvPicPr>
            <a:picLocks noChangeAspect="1"/>
          </p:cNvPicPr>
          <p:nvPr/>
        </p:nvPicPr>
        <p:blipFill>
          <a:blip r:embed="rId1" cstate="print">
            <a:duotone>
              <a:schemeClr val="accent6">
                <a:shade val="45000"/>
                <a:satMod val="135000"/>
              </a:schemeClr>
              <a:prstClr val="white"/>
            </a:duotone>
            <a:extLst>
              <a:ext uri="{BEBA8EAE-BF5A-486C-A8C5-ECC9F3942E4B}">
                <a14:imgProps xmlns:a14="http://schemas.microsoft.com/office/drawing/2010/main">
                  <a14:imgLayer r:embed="rId2">
                    <a14:imgEffect>
                      <a14:brightnessContrast bright="20000" contrast="40000"/>
                    </a14:imgEffect>
                  </a14:imgLayer>
                </a14:imgProps>
              </a:ext>
              <a:ext uri="{28A0092B-C50C-407E-A947-70E740481C1C}">
                <a14:useLocalDpi xmlns:a14="http://schemas.microsoft.com/office/drawing/2010/main" val="0"/>
              </a:ext>
            </a:extLst>
          </a:blip>
          <a:srcRect r="65005" b="62963"/>
          <a:stretch>
            <a:fillRect/>
          </a:stretch>
        </p:blipFill>
        <p:spPr>
          <a:xfrm>
            <a:off x="0" y="0"/>
            <a:ext cx="14399895" cy="2445385"/>
          </a:xfrm>
          <a:prstGeom prst="rect">
            <a:avLst/>
          </a:prstGeom>
          <a:solidFill>
            <a:srgbClr val="ED1C24"/>
          </a:solidFill>
          <a:ln>
            <a:solidFill>
              <a:schemeClr val="bg1"/>
            </a:solidFill>
          </a:ln>
        </p:spPr>
      </p:pic>
      <p:sp>
        <p:nvSpPr>
          <p:cNvPr id="6" name="文本框 5"/>
          <p:cNvSpPr txBox="1"/>
          <p:nvPr/>
        </p:nvSpPr>
        <p:spPr>
          <a:xfrm>
            <a:off x="-635" y="227965"/>
            <a:ext cx="14400530" cy="2445385"/>
          </a:xfrm>
          <a:prstGeom prst="rect">
            <a:avLst/>
          </a:prstGeom>
          <a:noFill/>
        </p:spPr>
        <p:txBody>
          <a:bodyPr wrap="square" rtlCol="0" anchor="t">
            <a:noAutofit/>
          </a:bodyPr>
          <a:lstStyle/>
          <a:p>
            <a:pPr algn="ctr"/>
            <a:r>
              <a:rPr lang="en-US" altLang="zh-CN" sz="3600" b="1" dirty="0">
                <a:solidFill>
                  <a:schemeClr val="bg1"/>
                </a:solidFill>
                <a:latin typeface="Times New Roman" panose="02020803070505020304" charset="0"/>
                <a:cs typeface="Times New Roman" panose="02020803070505020304" charset="0"/>
              </a:rPr>
              <a:t>Novel-to-Knowledge Graph: LLM-Based Extraction &amp; Neo4j GraphRAG Multi-Turn QA</a:t>
            </a:r>
            <a:endParaRPr lang="en-US" altLang="zh-CN" sz="3600" b="1" dirty="0">
              <a:solidFill>
                <a:schemeClr val="bg1"/>
              </a:solidFill>
              <a:latin typeface="Times New Roman" panose="02020803070505020304" charset="0"/>
              <a:cs typeface="Times New Roman" panose="02020803070505020304" charset="0"/>
            </a:endParaRPr>
          </a:p>
        </p:txBody>
      </p:sp>
      <p:sp>
        <p:nvSpPr>
          <p:cNvPr id="21" name="文本框 20"/>
          <p:cNvSpPr txBox="1"/>
          <p:nvPr/>
        </p:nvSpPr>
        <p:spPr>
          <a:xfrm>
            <a:off x="213360" y="2474595"/>
            <a:ext cx="13901420" cy="2676525"/>
          </a:xfrm>
          <a:prstGeom prst="rect">
            <a:avLst/>
          </a:prstGeom>
          <a:noFill/>
        </p:spPr>
        <p:txBody>
          <a:bodyPr wrap="square" rtlCol="0" anchor="t">
            <a:spAutoFit/>
          </a:bodyPr>
          <a:lstStyle/>
          <a:p>
            <a:pPr algn="just"/>
            <a:r>
              <a:rPr lang="en-US" altLang="zh-CN" sz="2400" b="1" dirty="0">
                <a:solidFill>
                  <a:schemeClr val="accent1">
                    <a:lumMod val="75000"/>
                  </a:schemeClr>
                </a:solidFill>
              </a:rPr>
              <a:t>Abstract</a:t>
            </a:r>
            <a:endParaRPr lang="zh-CN" altLang="en-US" sz="2400" b="1" dirty="0">
              <a:solidFill>
                <a:schemeClr val="accent1">
                  <a:lumMod val="75000"/>
                </a:schemeClr>
              </a:solidFill>
            </a:endParaRPr>
          </a:p>
          <a:p>
            <a:r>
              <a:rPr lang="en-US" altLang="zh-CN" sz="1600" dirty="0"/>
              <a:t>In This project presents an end-to-end pipeline that transforms raw novel TXT files into a queryable knowledge graph and a GraphRAG-based conversational system with evidence grounding. The workflow first preprocesses the novel by chapter and splits the text into overlapping chunks, assigning stable identifiers (chapter_id/chunk_id) to enable traceability. For each chunk, a large language model extracts structured entities with attributes, identifies entity-grounded events, and further derives relations between entities as well as between entities and events. Every extracted item retains an evidence span from the original text, supporting interpretability and provenance. The resulting nodes and edges are ingested into Neo4j with a consistent schema for efficient querying and visualization. On top of the graph, a FastAPI backend provides user management, graph retrieval APIs, and a multi-turn GraphRAG chat endpoint. The Nuxt + Tailwind frontend offers an interactive graph browser and a streaming chat interface, receiving incremental tokens via Server-Sent Events (SSE) and presenting citation-style evidence snippets. Together, the system enables interactive exploration and evidence-backed question answering over long-form narrative text.</a:t>
            </a:r>
            <a:endParaRPr lang="en-US" altLang="zh-CN" sz="1600" dirty="0"/>
          </a:p>
        </p:txBody>
      </p:sp>
      <p:cxnSp>
        <p:nvCxnSpPr>
          <p:cNvPr id="46" name="Straight Connector 8"/>
          <p:cNvCxnSpPr/>
          <p:nvPr/>
        </p:nvCxnSpPr>
        <p:spPr bwMode="auto">
          <a:xfrm>
            <a:off x="343925" y="5251493"/>
            <a:ext cx="13848080" cy="1"/>
          </a:xfrm>
          <a:prstGeom prst="line">
            <a:avLst/>
          </a:prstGeom>
          <a:noFill/>
          <a:ln w="25400" cap="flat" cmpd="sng" algn="ctr">
            <a:solidFill>
              <a:schemeClr val="tx1"/>
            </a:solidFill>
            <a:prstDash val="dash"/>
            <a:round/>
            <a:headEnd type="none" w="med" len="med"/>
            <a:tailEnd type="none" w="med" len="med"/>
          </a:ln>
          <a:effectLst/>
        </p:spPr>
      </p:cxnSp>
      <p:sp>
        <p:nvSpPr>
          <p:cNvPr id="126" name="文本框 125"/>
          <p:cNvSpPr txBox="1"/>
          <p:nvPr/>
        </p:nvSpPr>
        <p:spPr>
          <a:xfrm>
            <a:off x="7330700" y="5316534"/>
            <a:ext cx="6784470" cy="338554"/>
          </a:xfrm>
          <a:prstGeom prst="rect">
            <a:avLst/>
          </a:prstGeom>
          <a:noFill/>
        </p:spPr>
        <p:txBody>
          <a:bodyPr wrap="square" rtlCol="0">
            <a:spAutoFit/>
          </a:bodyPr>
          <a:lstStyle/>
          <a:p>
            <a:r>
              <a:rPr lang="en-US" altLang="zh-CN" sz="1600" b="1" u="sng" dirty="0">
                <a:latin typeface="微软雅黑" panose="020B0503020204020204" charset="-122"/>
                <a:ea typeface="微软雅黑" panose="020B0503020204020204" charset="-122"/>
              </a:rPr>
              <a:t>Main contributions: </a:t>
            </a:r>
            <a:endParaRPr lang="en-US" altLang="zh-CN" sz="1600" b="1" u="sng" dirty="0">
              <a:latin typeface="微软雅黑" panose="020B0503020204020204" charset="-122"/>
              <a:ea typeface="微软雅黑" panose="020B0503020204020204" charset="-122"/>
            </a:endParaRPr>
          </a:p>
        </p:txBody>
      </p:sp>
      <p:sp>
        <p:nvSpPr>
          <p:cNvPr id="128" name="矩形 127"/>
          <p:cNvSpPr/>
          <p:nvPr/>
        </p:nvSpPr>
        <p:spPr>
          <a:xfrm>
            <a:off x="137160" y="8877300"/>
            <a:ext cx="6901180" cy="12124055"/>
          </a:xfrm>
          <a:prstGeom prst="rect">
            <a:avLst/>
          </a:prstGeom>
          <a:ln w="6350">
            <a:prstDash val="sysDot"/>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dirty="0"/>
          </a:p>
        </p:txBody>
      </p:sp>
      <p:sp>
        <p:nvSpPr>
          <p:cNvPr id="135" name="矩形 134"/>
          <p:cNvSpPr/>
          <p:nvPr/>
        </p:nvSpPr>
        <p:spPr>
          <a:xfrm>
            <a:off x="-635" y="21082653"/>
            <a:ext cx="14400530" cy="586722"/>
          </a:xfrm>
          <a:prstGeom prst="rect">
            <a:avLst/>
          </a:prstGeom>
          <a:solidFill>
            <a:srgbClr val="C0465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9" name="文本框 18"/>
          <p:cNvSpPr txBox="1"/>
          <p:nvPr/>
        </p:nvSpPr>
        <p:spPr>
          <a:xfrm>
            <a:off x="2224226" y="8904805"/>
            <a:ext cx="2727047" cy="461665"/>
          </a:xfrm>
          <a:prstGeom prst="rect">
            <a:avLst/>
          </a:prstGeom>
          <a:noFill/>
        </p:spPr>
        <p:txBody>
          <a:bodyPr wrap="square" rtlCol="0">
            <a:spAutoFit/>
          </a:bodyPr>
          <a:lstStyle/>
          <a:p>
            <a:pPr algn="just"/>
            <a:r>
              <a:rPr lang="en-US" altLang="zh-CN" sz="2400" b="1" dirty="0">
                <a:solidFill>
                  <a:schemeClr val="accent1">
                    <a:lumMod val="75000"/>
                  </a:schemeClr>
                </a:solidFill>
              </a:rPr>
              <a:t>Methodology</a:t>
            </a:r>
            <a:endParaRPr lang="zh-CN" altLang="en-US" sz="2400" b="1" dirty="0">
              <a:solidFill>
                <a:schemeClr val="accent1">
                  <a:lumMod val="75000"/>
                </a:schemeClr>
              </a:solidFill>
            </a:endParaRPr>
          </a:p>
        </p:txBody>
      </p:sp>
      <p:sp>
        <p:nvSpPr>
          <p:cNvPr id="31" name="文本框 30"/>
          <p:cNvSpPr txBox="1"/>
          <p:nvPr/>
        </p:nvSpPr>
        <p:spPr>
          <a:xfrm>
            <a:off x="7185025" y="16730980"/>
            <a:ext cx="7078980" cy="460375"/>
          </a:xfrm>
          <a:prstGeom prst="rect">
            <a:avLst/>
          </a:prstGeom>
          <a:noFill/>
        </p:spPr>
        <p:txBody>
          <a:bodyPr wrap="square" rtlCol="0">
            <a:spAutoFit/>
          </a:bodyPr>
          <a:lstStyle>
            <a:defPPr>
              <a:defRPr lang="zh-CN"/>
            </a:defPPr>
            <a:lvl1pPr>
              <a:defRPr>
                <a:latin typeface="+mn-ea"/>
              </a:defRPr>
            </a:lvl1pPr>
          </a:lstStyle>
          <a:p>
            <a:r>
              <a:rPr lang="en-US" altLang="zh-CN" sz="2400" b="1" dirty="0">
                <a:solidFill>
                  <a:schemeClr val="accent1">
                    <a:lumMod val="75000"/>
                  </a:schemeClr>
                </a:solidFill>
                <a:latin typeface="+mn-lt"/>
              </a:rPr>
              <a:t>               System Outputs &amp; Diagnostics</a:t>
            </a:r>
            <a:endParaRPr lang="en-US" altLang="zh-CN" sz="2400" b="1" dirty="0">
              <a:solidFill>
                <a:schemeClr val="accent1">
                  <a:lumMod val="75000"/>
                </a:schemeClr>
              </a:solidFill>
              <a:latin typeface="+mn-lt"/>
            </a:endParaRPr>
          </a:p>
        </p:txBody>
      </p:sp>
      <p:sp>
        <p:nvSpPr>
          <p:cNvPr id="35" name="文本框 34"/>
          <p:cNvSpPr txBox="1"/>
          <p:nvPr/>
        </p:nvSpPr>
        <p:spPr>
          <a:xfrm>
            <a:off x="7310127" y="5592091"/>
            <a:ext cx="6784470" cy="3753485"/>
          </a:xfrm>
          <a:prstGeom prst="rect">
            <a:avLst/>
          </a:prstGeom>
          <a:noFill/>
        </p:spPr>
        <p:txBody>
          <a:bodyPr wrap="square" rtlCol="0">
            <a:spAutoFit/>
          </a:bodyPr>
          <a:lstStyle/>
          <a:p>
            <a:pPr marL="285750" indent="-285750">
              <a:buFont typeface="Wingdings" panose="05000000000000000000" pitchFamily="2" charset="2"/>
              <a:buChar char="Ø"/>
            </a:pPr>
            <a:r>
              <a:rPr lang="en-US" altLang="zh-CN" sz="1400" b="1" i="1" dirty="0">
                <a:solidFill>
                  <a:schemeClr val="accent1"/>
                </a:solidFill>
                <a:latin typeface="微软雅黑" panose="020B0503020204020204" charset="-122"/>
                <a:ea typeface="微软雅黑" panose="020B0503020204020204" charset="-122"/>
              </a:rPr>
              <a:t>Successfully Build an End-to-End Novel-to-KG Pipeline.   </a:t>
            </a:r>
            <a:r>
              <a:rPr lang="en-US" altLang="zh-CN" sz="1400" dirty="0">
                <a:solidFill>
                  <a:schemeClr val="tx1"/>
                </a:solidFill>
                <a:latin typeface="微软雅黑" panose="020B0503020204020204" charset="-122"/>
                <a:ea typeface="微软雅黑" panose="020B0503020204020204" charset="-122"/>
              </a:rPr>
              <a:t>We design and implement a complete workflow that transforms raw TXT novels into structured outputs via chapter-aware chunking with stable provenance identifiers (chapter_id/chunk_id).</a:t>
            </a:r>
            <a:endParaRPr lang="en-US" altLang="zh-CN" sz="1400" b="1" i="1" dirty="0">
              <a:solidFill>
                <a:schemeClr val="accent1"/>
              </a:solidFill>
              <a:latin typeface="微软雅黑" panose="020B0503020204020204" charset="-122"/>
              <a:ea typeface="微软雅黑" panose="020B0503020204020204" charset="-122"/>
            </a:endParaRPr>
          </a:p>
          <a:p>
            <a:pPr marL="285750" indent="-285750">
              <a:buFont typeface="Wingdings" panose="05000000000000000000" pitchFamily="2" charset="2"/>
              <a:buChar char="Ø"/>
            </a:pPr>
            <a:r>
              <a:rPr lang="en-US" altLang="zh-CN" sz="1400" b="1" i="1" dirty="0">
                <a:solidFill>
                  <a:schemeClr val="accent1"/>
                </a:solidFill>
                <a:latin typeface="微软雅黑" panose="020B0503020204020204" charset="-122"/>
                <a:ea typeface="微软雅黑" panose="020B0503020204020204" charset="-122"/>
              </a:rPr>
              <a:t>Perform Evidence-Grounded LLM Extraction for Entities, Events, and Relations.   </a:t>
            </a:r>
            <a:r>
              <a:rPr lang="en-US" altLang="zh-CN" sz="1400" dirty="0">
                <a:latin typeface="微软雅黑" panose="020B0503020204020204" charset="-122"/>
                <a:ea typeface="微软雅黑" panose="020B0503020204020204" charset="-122"/>
              </a:rPr>
              <a:t>We use an LLM to extract entities with attributes, entity-grounded events, and entity–entity/entity–event relations, while retaining evidence spans to ensure interpretability and verifiable grounding.</a:t>
            </a:r>
            <a:endParaRPr lang="en-US" altLang="zh-CN" sz="1400" dirty="0">
              <a:latin typeface="微软雅黑" panose="020B0503020204020204" charset="-122"/>
              <a:ea typeface="微软雅黑" panose="020B0503020204020204" charset="-122"/>
            </a:endParaRPr>
          </a:p>
          <a:p>
            <a:pPr marL="285750" indent="-285750">
              <a:buFont typeface="Wingdings" panose="05000000000000000000" pitchFamily="2" charset="2"/>
              <a:buChar char="Ø"/>
            </a:pPr>
            <a:r>
              <a:rPr lang="en-US" altLang="zh-CN" sz="1400" b="1" i="1" dirty="0">
                <a:solidFill>
                  <a:schemeClr val="accent1"/>
                </a:solidFill>
                <a:latin typeface="微软雅黑" panose="020B0503020204020204" charset="-122"/>
                <a:ea typeface="微软雅黑" panose="020B0503020204020204" charset="-122"/>
              </a:rPr>
              <a:t>Construct and Ingest a Queryable Neo4j Knowledge Graph.   </a:t>
            </a:r>
            <a:r>
              <a:rPr lang="en-US" altLang="zh-CN" sz="1400" dirty="0">
                <a:solidFill>
                  <a:schemeClr val="tx1"/>
                </a:solidFill>
                <a:latin typeface="微软雅黑" panose="020B0503020204020204" charset="-122"/>
                <a:ea typeface="微软雅黑" panose="020B0503020204020204" charset="-122"/>
              </a:rPr>
              <a:t>We define a Neo4j schema and ingest nodes, edges, properties, and evidence for efficient graph querying and visualization, enabling subgraph retrieval for downstream QA.</a:t>
            </a:r>
            <a:endParaRPr lang="en-US" altLang="zh-CN" sz="1400" dirty="0">
              <a:solidFill>
                <a:schemeClr val="tx1"/>
              </a:solidFill>
              <a:latin typeface="微软雅黑" panose="020B0503020204020204" charset="-122"/>
              <a:ea typeface="微软雅黑" panose="020B0503020204020204" charset="-122"/>
            </a:endParaRPr>
          </a:p>
          <a:p>
            <a:pPr marL="285750" indent="-285750">
              <a:buFont typeface="Wingdings" panose="05000000000000000000" pitchFamily="2" charset="2"/>
              <a:buChar char="Ø"/>
            </a:pPr>
            <a:r>
              <a:rPr lang="en-US" altLang="zh-CN" sz="1400" b="1" i="1" dirty="0">
                <a:solidFill>
                  <a:schemeClr val="accent1"/>
                </a:solidFill>
                <a:latin typeface="微软雅黑" panose="020B0503020204020204" charset="-122"/>
                <a:ea typeface="微软雅黑" panose="020B0503020204020204" charset="-122"/>
              </a:rPr>
              <a:t>Enable Multi-turn GraphRAG Question Answering with Streaming UI.   </a:t>
            </a:r>
            <a:r>
              <a:rPr lang="en-US" altLang="zh-CN" sz="1400" dirty="0">
                <a:solidFill>
                  <a:schemeClr val="tx1"/>
                </a:solidFill>
                <a:latin typeface="微软雅黑" panose="020B0503020204020204" charset="-122"/>
                <a:ea typeface="微软雅黑" panose="020B0503020204020204" charset="-122"/>
              </a:rPr>
              <a:t>We build a GraphRAG-based chatbot that supports multi-turn conversations and streams token-level responses via SSE, presenting citation-style evidence snippets in a Nuxt + Tailwind frontend.</a:t>
            </a:r>
            <a:endParaRPr lang="en-US" altLang="zh-CN" sz="1400" dirty="0">
              <a:solidFill>
                <a:schemeClr val="tx1"/>
              </a:solidFill>
              <a:latin typeface="微软雅黑" panose="020B0503020204020204" charset="-122"/>
              <a:ea typeface="微软雅黑" panose="020B0503020204020204" charset="-122"/>
            </a:endParaRPr>
          </a:p>
          <a:p>
            <a:pPr marL="285750" indent="-285750">
              <a:buFont typeface="Wingdings" panose="05000000000000000000" pitchFamily="2" charset="2"/>
              <a:buChar char="Ø"/>
            </a:pPr>
            <a:endParaRPr lang="en-US" altLang="zh-CN" sz="1400" dirty="0">
              <a:solidFill>
                <a:schemeClr val="tx1"/>
              </a:solidFill>
              <a:latin typeface="微软雅黑" panose="020B0503020204020204" charset="-122"/>
              <a:ea typeface="微软雅黑" panose="020B0503020204020204" charset="-122"/>
            </a:endParaRPr>
          </a:p>
        </p:txBody>
      </p:sp>
      <p:sp>
        <p:nvSpPr>
          <p:cNvPr id="38" name="文本框 37"/>
          <p:cNvSpPr txBox="1"/>
          <p:nvPr/>
        </p:nvSpPr>
        <p:spPr>
          <a:xfrm>
            <a:off x="224155" y="9265920"/>
            <a:ext cx="6626860" cy="7465060"/>
          </a:xfrm>
          <a:prstGeom prst="rect">
            <a:avLst/>
          </a:prstGeom>
          <a:noFill/>
        </p:spPr>
        <p:txBody>
          <a:bodyPr wrap="square" rtlCol="0" anchor="t">
            <a:noAutofit/>
          </a:bodyPr>
          <a:lstStyle/>
          <a:p>
            <a:r>
              <a:rPr lang="en-US" altLang="zh-CN" sz="2000" b="1" u="sng" dirty="0">
                <a:latin typeface="微软雅黑" panose="020B0503020204020204" charset="-122"/>
                <a:ea typeface="微软雅黑" panose="020B0503020204020204" charset="-122"/>
              </a:rPr>
              <a:t>Preprocess text:</a:t>
            </a:r>
            <a:endParaRPr lang="en-US" altLang="zh-CN" sz="2000" b="1" u="sng" dirty="0">
              <a:latin typeface="微软雅黑" panose="020B0503020204020204" charset="-122"/>
              <a:ea typeface="微软雅黑" panose="020B0503020204020204" charset="-122"/>
            </a:endParaRPr>
          </a:p>
          <a:p>
            <a:r>
              <a:rPr lang="en-US" altLang="zh-CN" dirty="0"/>
              <a:t>Parse the TXT by chapters and split into overlapping chunks; assign stable chapter_id and chunk_id for provenance.</a:t>
            </a:r>
            <a:endParaRPr lang="en-US" altLang="zh-CN" dirty="0"/>
          </a:p>
          <a:p>
            <a:r>
              <a:rPr lang="en-US" altLang="zh-CN" sz="2000" b="1" u="sng" dirty="0">
                <a:latin typeface="微软雅黑" panose="020B0503020204020204" charset="-122"/>
                <a:ea typeface="微软雅黑" panose="020B0503020204020204" charset="-122"/>
              </a:rPr>
              <a:t>Extract entities: </a:t>
            </a:r>
            <a:endParaRPr lang="en-US" altLang="zh-CN" sz="2000" b="1" u="sng" dirty="0">
              <a:latin typeface="微软雅黑" panose="020B0503020204020204" charset="-122"/>
              <a:ea typeface="微软雅黑" panose="020B0503020204020204" charset="-122"/>
            </a:endParaRPr>
          </a:p>
          <a:p>
            <a:r>
              <a:rPr lang="en-US" altLang="zh-CN" dirty="0"/>
              <a:t>Run an LLM per chunk to produce entities (type/name), plus attributes and evidence spans.</a:t>
            </a:r>
            <a:endParaRPr lang="en-US" altLang="zh-CN" dirty="0"/>
          </a:p>
          <a:p>
            <a:r>
              <a:rPr lang="en-US" altLang="zh-CN" sz="2000" b="1" u="sng" dirty="0">
                <a:latin typeface="微软雅黑" panose="020B0503020204020204" charset="-122"/>
                <a:ea typeface="微软雅黑" panose="020B0503020204020204" charset="-122"/>
              </a:rPr>
              <a:t>Extract events: </a:t>
            </a:r>
            <a:endParaRPr lang="en-US" altLang="zh-CN" sz="2000" b="1" u="sng" dirty="0">
              <a:latin typeface="微软雅黑" panose="020B0503020204020204" charset="-122"/>
              <a:ea typeface="微软雅黑" panose="020B0503020204020204" charset="-122"/>
            </a:endParaRPr>
          </a:p>
          <a:p>
            <a:r>
              <a:rPr lang="en-US" altLang="zh-CN" dirty="0"/>
              <a:t>Identify narrative events in the chunk and bind them to participating entities (participants/roles) with evidence spans.</a:t>
            </a:r>
            <a:endParaRPr lang="en-US" altLang="zh-CN" dirty="0"/>
          </a:p>
          <a:p>
            <a:r>
              <a:rPr lang="en-US" altLang="zh-CN" sz="2000" b="1" u="sng" dirty="0">
                <a:latin typeface="微软雅黑" panose="020B0503020204020204" charset="-122"/>
                <a:ea typeface="微软雅黑" panose="020B0503020204020204" charset="-122"/>
              </a:rPr>
              <a:t>Extract relations: </a:t>
            </a:r>
            <a:endParaRPr lang="en-US" altLang="zh-CN" sz="2000" b="1" u="sng" dirty="0">
              <a:latin typeface="微软雅黑" panose="020B0503020204020204" charset="-122"/>
              <a:ea typeface="微软雅黑" panose="020B0503020204020204" charset="-122"/>
            </a:endParaRPr>
          </a:p>
          <a:p>
            <a:r>
              <a:rPr lang="en-US" altLang="zh-CN" dirty="0"/>
              <a:t>Infer entity–entity and entity–event relations, recording evidence and the source chunk_id for each edge.</a:t>
            </a:r>
            <a:endParaRPr lang="en-US" altLang="zh-CN" dirty="0"/>
          </a:p>
          <a:p>
            <a:pPr algn="l">
              <a:buClrTx/>
              <a:buSzTx/>
              <a:buFontTx/>
            </a:pPr>
            <a:r>
              <a:rPr lang="en-US" altLang="zh-CN" sz="2000" b="1" u="sng" dirty="0">
                <a:latin typeface="微软雅黑" panose="020B0503020204020204" charset="-122"/>
                <a:ea typeface="微软雅黑" panose="020B0503020204020204" charset="-122"/>
              </a:rPr>
              <a:t>Canonicalize and merge:</a:t>
            </a:r>
            <a:endParaRPr lang="en-US" altLang="zh-CN" sz="2000" b="1" u="sng" dirty="0">
              <a:latin typeface="微软雅黑" panose="020B0503020204020204" charset="-122"/>
              <a:ea typeface="微软雅黑" panose="020B0503020204020204" charset="-122"/>
            </a:endParaRPr>
          </a:p>
          <a:p>
            <a:r>
              <a:rPr lang="en-US" altLang="zh-CN" dirty="0"/>
              <a:t>Resolve duplicates and aliases via rules or similarity, producing canonical IDs to reduce redundancy.</a:t>
            </a:r>
            <a:endParaRPr lang="en-US" altLang="zh-CN" dirty="0"/>
          </a:p>
          <a:p>
            <a:r>
              <a:rPr lang="en-US" altLang="zh-CN" sz="2000" b="1" u="sng" dirty="0">
                <a:latin typeface="微软雅黑" panose="020B0503020204020204" charset="-122"/>
                <a:ea typeface="微软雅黑" panose="020B0503020204020204" charset="-122"/>
              </a:rPr>
              <a:t>Ingest into graph DB:</a:t>
            </a:r>
            <a:endParaRPr lang="en-US" altLang="zh-CN" dirty="0"/>
          </a:p>
          <a:p>
            <a:r>
              <a:rPr lang="en-US" altLang="zh-CN" dirty="0"/>
              <a:t>Store entities/events as nodes and relations as edges in Neo4j; create indexes and persist evidence properties.</a:t>
            </a:r>
            <a:endParaRPr lang="en-US" altLang="zh-CN" dirty="0"/>
          </a:p>
          <a:p>
            <a:pPr algn="l">
              <a:buClrTx/>
              <a:buSzTx/>
              <a:buFontTx/>
            </a:pPr>
            <a:r>
              <a:rPr lang="en-US" altLang="zh-CN" sz="2000" b="1" u="sng" dirty="0">
                <a:latin typeface="微软雅黑" panose="020B0503020204020204" charset="-122"/>
                <a:ea typeface="微软雅黑" panose="020B0503020204020204" charset="-122"/>
              </a:rPr>
              <a:t>GraphRAG retrieval:</a:t>
            </a:r>
            <a:endParaRPr lang="en-US" altLang="zh-CN" sz="2000" b="1" u="sng" dirty="0">
              <a:latin typeface="微软雅黑" panose="020B0503020204020204" charset="-122"/>
              <a:ea typeface="微软雅黑" panose="020B0503020204020204" charset="-122"/>
            </a:endParaRPr>
          </a:p>
          <a:p>
            <a:r>
              <a:rPr lang="en-US" altLang="zh-CN" dirty="0"/>
              <a:t>Retrieve relevant subgraphs and evidence spans (via entity/event neighborhood expansion) to form structured context.</a:t>
            </a:r>
            <a:endParaRPr lang="en-US" altLang="zh-CN" dirty="0"/>
          </a:p>
          <a:p>
            <a:pPr algn="l">
              <a:buClrTx/>
              <a:buSzTx/>
              <a:buFontTx/>
            </a:pPr>
            <a:r>
              <a:rPr lang="en-US" altLang="zh-CN" sz="2000" b="1" u="sng" dirty="0">
                <a:latin typeface="微软雅黑" panose="020B0503020204020204" charset="-122"/>
                <a:ea typeface="微软雅黑" panose="020B0503020204020204" charset="-122"/>
              </a:rPr>
              <a:t>Generate and stream:</a:t>
            </a:r>
            <a:endParaRPr lang="en-US" altLang="zh-CN" sz="2000" b="1" u="sng" dirty="0">
              <a:latin typeface="微软雅黑" panose="020B0503020204020204" charset="-122"/>
              <a:ea typeface="微软雅黑" panose="020B0503020204020204" charset="-122"/>
            </a:endParaRPr>
          </a:p>
          <a:p>
            <a:r>
              <a:rPr lang="en-US" altLang="zh-CN" dirty="0"/>
              <a:t>Feed retrieved context and dialogue history to the LLM; stream tokens via SSE and render incrementally with citation-style evidence.</a:t>
            </a:r>
            <a:endParaRPr lang="en-US" altLang="zh-CN" dirty="0"/>
          </a:p>
          <a:p>
            <a:endParaRPr lang="en-US" altLang="zh-CN" dirty="0"/>
          </a:p>
          <a:p>
            <a:endParaRPr lang="en-US" altLang="zh-CN" dirty="0"/>
          </a:p>
          <a:p>
            <a:endParaRPr lang="en-US" altLang="zh-CN" dirty="0"/>
          </a:p>
        </p:txBody>
      </p:sp>
      <p:grpSp>
        <p:nvGrpSpPr>
          <p:cNvPr id="39" name="组合 38"/>
          <p:cNvGrpSpPr/>
          <p:nvPr/>
        </p:nvGrpSpPr>
        <p:grpSpPr>
          <a:xfrm>
            <a:off x="7545025" y="17184253"/>
            <a:ext cx="6431280" cy="2080584"/>
            <a:chOff x="7475674" y="9972113"/>
            <a:chExt cx="6431280" cy="2080584"/>
          </a:xfrm>
        </p:grpSpPr>
        <p:sp>
          <p:nvSpPr>
            <p:cNvPr id="27" name="矩形: 圆角 26"/>
            <p:cNvSpPr/>
            <p:nvPr/>
          </p:nvSpPr>
          <p:spPr>
            <a:xfrm>
              <a:off x="7475674" y="9972113"/>
              <a:ext cx="6431280" cy="2079625"/>
            </a:xfrm>
            <a:prstGeom prst="roundRect">
              <a:avLst/>
            </a:prstGeom>
            <a:solidFill>
              <a:srgbClr val="FFE8CC"/>
            </a:solidFill>
            <a:ln w="19050">
              <a:solidFill>
                <a:schemeClr val="bg2">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文本框 29"/>
            <p:cNvSpPr txBox="1"/>
            <p:nvPr/>
          </p:nvSpPr>
          <p:spPr>
            <a:xfrm>
              <a:off x="7621867" y="10022602"/>
              <a:ext cx="6028661" cy="2030095"/>
            </a:xfrm>
            <a:prstGeom prst="rect">
              <a:avLst/>
            </a:prstGeom>
            <a:noFill/>
          </p:spPr>
          <p:txBody>
            <a:bodyPr wrap="square" rtlCol="0">
              <a:spAutoFit/>
            </a:bodyPr>
            <a:lstStyle/>
            <a:p>
              <a:pPr marL="285750" indent="-285750" algn="l">
                <a:buFont typeface="Wingdings" panose="05000000000000000000" pitchFamily="2" charset="2"/>
                <a:buChar char="ü"/>
              </a:pPr>
              <a:r>
                <a:rPr lang="en-US" altLang="zh-CN" sz="1400" b="1" dirty="0">
                  <a:solidFill>
                    <a:srgbClr val="1F2328"/>
                  </a:solidFill>
                  <a:latin typeface="微软雅黑" panose="020B0503020204020204" charset="-122"/>
                  <a:ea typeface="微软雅黑" panose="020B0503020204020204" charset="-122"/>
                </a:rPr>
                <a:t>Knowledge Graph Scale:</a:t>
              </a:r>
              <a:r>
                <a:rPr lang="en-US" altLang="zh-CN" sz="1400" dirty="0">
                  <a:solidFill>
                    <a:srgbClr val="1F2328"/>
                  </a:solidFill>
                  <a:latin typeface="微软雅黑" panose="020B0503020204020204" charset="-122"/>
                  <a:ea typeface="微软雅黑" panose="020B0503020204020204" charset="-122"/>
                </a:rPr>
                <a:t> R</a:t>
              </a:r>
              <a:r>
                <a:rPr lang="en-US" altLang="zh-CN" sz="1400" b="0" i="0" dirty="0">
                  <a:solidFill>
                    <a:srgbClr val="1F2328"/>
                  </a:solidFill>
                  <a:effectLst/>
                  <a:latin typeface="微软雅黑" panose="020B0503020204020204" charset="-122"/>
                  <a:ea typeface="微软雅黑" panose="020B0503020204020204" charset="-122"/>
                </a:rPr>
                <a:t>eport #Chapters, #Chunks, #Nodes (Person/Place/Org/Event) and #Edges (relations), plus average degree to summarise graph density.</a:t>
              </a:r>
              <a:r>
                <a:rPr lang="en-US" altLang="zh-CN" sz="1400" b="0" i="0" dirty="0">
                  <a:solidFill>
                    <a:srgbClr val="1F2328"/>
                  </a:solidFill>
                  <a:effectLst/>
                  <a:latin typeface="微软雅黑" panose="020B0503020204020204" charset="-122"/>
                  <a:ea typeface="微软雅黑" panose="020B0503020204020204" charset="-122"/>
                </a:rPr>
                <a:t> </a:t>
              </a:r>
              <a:endParaRPr lang="en-US" altLang="zh-CN" sz="1400" b="0" i="0" dirty="0">
                <a:solidFill>
                  <a:srgbClr val="1F2328"/>
                </a:solidFill>
                <a:effectLst/>
                <a:latin typeface="微软雅黑" panose="020B0503020204020204" charset="-122"/>
                <a:ea typeface="微软雅黑" panose="020B0503020204020204" charset="-122"/>
              </a:endParaRPr>
            </a:p>
            <a:p>
              <a:pPr marL="285750" indent="-285750" algn="l">
                <a:buFont typeface="Wingdings" panose="05000000000000000000" pitchFamily="2" charset="2"/>
                <a:buChar char="ü"/>
              </a:pPr>
              <a:r>
                <a:rPr lang="en-US" altLang="zh-CN" sz="1400" b="1" dirty="0">
                  <a:solidFill>
                    <a:srgbClr val="1F2328"/>
                  </a:solidFill>
                  <a:latin typeface="微软雅黑" panose="020B0503020204020204" charset="-122"/>
                  <a:ea typeface="微软雅黑" panose="020B0503020204020204" charset="-122"/>
                </a:rPr>
                <a:t>Provenance &amp; Interpretability:</a:t>
              </a:r>
              <a:r>
                <a:rPr lang="en-US" altLang="zh-CN" sz="1400" dirty="0">
                  <a:solidFill>
                    <a:srgbClr val="1F2328"/>
                  </a:solidFill>
                  <a:latin typeface="微软雅黑" panose="020B0503020204020204" charset="-122"/>
                  <a:ea typeface="微软雅黑" panose="020B0503020204020204" charset="-122"/>
                </a:rPr>
                <a:t> </a:t>
              </a:r>
              <a:r>
                <a:rPr lang="en-US" altLang="zh-CN" sz="1400" b="0" i="0" dirty="0">
                  <a:solidFill>
                    <a:srgbClr val="1F2328"/>
                  </a:solidFill>
                  <a:effectLst/>
                  <a:latin typeface="微软雅黑" panose="020B0503020204020204" charset="-122"/>
                  <a:ea typeface="微软雅黑" panose="020B0503020204020204" charset="-122"/>
                </a:rPr>
                <a:t> each extracted entity/event/relation is stored with evidence spans and chunk_id for traceable, citation-style grounding.</a:t>
              </a:r>
              <a:endParaRPr lang="en-US" altLang="zh-CN" sz="1400" b="0" i="0" dirty="0">
                <a:solidFill>
                  <a:srgbClr val="1F2328"/>
                </a:solidFill>
                <a:effectLst/>
                <a:latin typeface="微软雅黑" panose="020B0503020204020204" charset="-122"/>
                <a:ea typeface="微软雅黑" panose="020B0503020204020204" charset="-122"/>
              </a:endParaRPr>
            </a:p>
            <a:p>
              <a:pPr marL="285750" indent="-285750" algn="l">
                <a:buFont typeface="Wingdings" panose="05000000000000000000" pitchFamily="2" charset="2"/>
                <a:buChar char="ü"/>
              </a:pPr>
              <a:r>
                <a:rPr lang="en-US" altLang="zh-CN" sz="1400" b="1" dirty="0">
                  <a:solidFill>
                    <a:srgbClr val="1F2328"/>
                  </a:solidFill>
                  <a:latin typeface="微软雅黑" panose="020B0503020204020204" charset="-122"/>
                  <a:ea typeface="微软雅黑" panose="020B0503020204020204" charset="-122"/>
                </a:rPr>
                <a:t>Runtime &amp; UX:</a:t>
              </a:r>
              <a:r>
                <a:rPr lang="en-US" altLang="zh-CN" sz="1400" dirty="0">
                  <a:solidFill>
                    <a:srgbClr val="1F2328"/>
                  </a:solidFill>
                  <a:latin typeface="微软雅黑" panose="020B0503020204020204" charset="-122"/>
                  <a:ea typeface="微软雅黑" panose="020B0503020204020204" charset="-122"/>
                </a:rPr>
                <a:t> </a:t>
              </a:r>
              <a:r>
                <a:rPr lang="en-US" altLang="zh-CN" sz="1400" b="0" i="0" dirty="0">
                  <a:solidFill>
                    <a:srgbClr val="1F2328"/>
                  </a:solidFill>
                  <a:effectLst/>
                  <a:latin typeface="微软雅黑" panose="020B0503020204020204" charset="-122"/>
                  <a:ea typeface="微软雅黑" panose="020B0503020204020204" charset="-122"/>
                </a:rPr>
                <a:t>measure time-to-first-token (TTFT) and end-to-end response latency under SSE streaming for interactive multi-turn QA.</a:t>
              </a:r>
              <a:endParaRPr lang="en-US" altLang="zh-CN" sz="1400" b="0" i="0" dirty="0">
                <a:solidFill>
                  <a:srgbClr val="1F2328"/>
                </a:solidFill>
                <a:effectLst/>
                <a:latin typeface="微软雅黑" panose="020B0503020204020204" charset="-122"/>
                <a:ea typeface="微软雅黑" panose="020B0503020204020204" charset="-122"/>
              </a:endParaRPr>
            </a:p>
          </p:txBody>
        </p:sp>
      </p:grpSp>
      <p:sp>
        <p:nvSpPr>
          <p:cNvPr id="16" name="Text Placeholder 383"/>
          <p:cNvSpPr txBox="1"/>
          <p:nvPr/>
        </p:nvSpPr>
        <p:spPr>
          <a:xfrm>
            <a:off x="2077085" y="1329055"/>
            <a:ext cx="10193020" cy="461645"/>
          </a:xfrm>
          <a:prstGeom prst="rect">
            <a:avLst/>
          </a:prstGeom>
        </p:spPr>
        <p:txBody>
          <a:bodyPr lIns="77349" tIns="38675" rIns="77349" bIns="38675" anchor="t" anchorCtr="1">
            <a:normAutofit/>
          </a:bodyPr>
          <a:lstStyle>
            <a:lvl1pPr marL="0" indent="0" algn="ctr" defTabSz="4298315" rtl="0" eaLnBrk="1" latinLnBrk="0" hangingPunct="1">
              <a:spcBef>
                <a:spcPct val="20000"/>
              </a:spcBef>
              <a:buFontTx/>
              <a:buNone/>
              <a:defRPr sz="7200" kern="1200">
                <a:solidFill>
                  <a:schemeClr val="bg1"/>
                </a:solidFill>
                <a:latin typeface="+mj-lt"/>
                <a:ea typeface="+mn-ea"/>
                <a:cs typeface="+mn-cs"/>
              </a:defRPr>
            </a:lvl1pPr>
            <a:lvl2pPr marL="3492500" indent="-1343025" algn="l" defTabSz="4298315" rtl="0" eaLnBrk="1" latinLnBrk="0" hangingPunct="1">
              <a:spcBef>
                <a:spcPct val="20000"/>
              </a:spcBef>
              <a:buFontTx/>
              <a:buNone/>
              <a:defRPr sz="6100" kern="1200">
                <a:solidFill>
                  <a:schemeClr val="tx1"/>
                </a:solidFill>
                <a:latin typeface="+mn-lt"/>
                <a:ea typeface="+mn-ea"/>
                <a:cs typeface="+mn-cs"/>
              </a:defRPr>
            </a:lvl2pPr>
            <a:lvl3pPr marL="5372735" indent="-1074420" algn="l" defTabSz="4298315" rtl="0" eaLnBrk="1" latinLnBrk="0" hangingPunct="1">
              <a:spcBef>
                <a:spcPct val="20000"/>
              </a:spcBef>
              <a:buFontTx/>
              <a:buNone/>
              <a:defRPr sz="6100" kern="1200">
                <a:solidFill>
                  <a:schemeClr val="tx1"/>
                </a:solidFill>
                <a:latin typeface="+mn-lt"/>
                <a:ea typeface="+mn-ea"/>
                <a:cs typeface="+mn-cs"/>
              </a:defRPr>
            </a:lvl3pPr>
            <a:lvl4pPr marL="7522210" indent="-1074420" algn="l" defTabSz="4298315" rtl="0" eaLnBrk="1" latinLnBrk="0" hangingPunct="1">
              <a:spcBef>
                <a:spcPct val="20000"/>
              </a:spcBef>
              <a:buFontTx/>
              <a:buNone/>
              <a:defRPr sz="6100" kern="1200">
                <a:solidFill>
                  <a:schemeClr val="tx1"/>
                </a:solidFill>
                <a:latin typeface="+mn-lt"/>
                <a:ea typeface="+mn-ea"/>
                <a:cs typeface="+mn-cs"/>
              </a:defRPr>
            </a:lvl4pPr>
            <a:lvl5pPr marL="9671685" indent="-1074420" algn="l" defTabSz="4298315" rtl="0" eaLnBrk="1" latinLnBrk="0" hangingPunct="1">
              <a:spcBef>
                <a:spcPct val="20000"/>
              </a:spcBef>
              <a:buFontTx/>
              <a:buNone/>
              <a:defRPr sz="6100" kern="1200">
                <a:solidFill>
                  <a:schemeClr val="tx1"/>
                </a:solidFill>
                <a:latin typeface="+mn-lt"/>
                <a:ea typeface="+mn-ea"/>
                <a:cs typeface="+mn-cs"/>
              </a:defRPr>
            </a:lvl5pPr>
            <a:lvl6pPr marL="11820525" indent="-1074420" algn="l" defTabSz="4298315" rtl="0" eaLnBrk="1" latinLnBrk="0" hangingPunct="1">
              <a:spcBef>
                <a:spcPct val="20000"/>
              </a:spcBef>
              <a:buFont typeface="Arial" panose="020B0704020202090204" pitchFamily="34" charset="0"/>
              <a:buChar char="•"/>
              <a:defRPr sz="9500" kern="1200">
                <a:solidFill>
                  <a:schemeClr val="tx1"/>
                </a:solidFill>
                <a:latin typeface="+mn-lt"/>
                <a:ea typeface="+mn-ea"/>
                <a:cs typeface="+mn-cs"/>
              </a:defRPr>
            </a:lvl6pPr>
            <a:lvl7pPr marL="13970000" indent="-1074420" algn="l" defTabSz="4298315" rtl="0" eaLnBrk="1" latinLnBrk="0" hangingPunct="1">
              <a:spcBef>
                <a:spcPct val="20000"/>
              </a:spcBef>
              <a:buFont typeface="Arial" panose="020B0704020202090204" pitchFamily="34" charset="0"/>
              <a:buChar char="•"/>
              <a:defRPr sz="9500" kern="1200">
                <a:solidFill>
                  <a:schemeClr val="tx1"/>
                </a:solidFill>
                <a:latin typeface="+mn-lt"/>
                <a:ea typeface="+mn-ea"/>
                <a:cs typeface="+mn-cs"/>
              </a:defRPr>
            </a:lvl7pPr>
            <a:lvl8pPr marL="16118840" indent="-1074420" algn="l" defTabSz="4298315" rtl="0" eaLnBrk="1" latinLnBrk="0" hangingPunct="1">
              <a:spcBef>
                <a:spcPct val="20000"/>
              </a:spcBef>
              <a:buFont typeface="Arial" panose="020B0704020202090204" pitchFamily="34" charset="0"/>
              <a:buChar char="•"/>
              <a:defRPr sz="9500" kern="1200">
                <a:solidFill>
                  <a:schemeClr val="tx1"/>
                </a:solidFill>
                <a:latin typeface="+mn-lt"/>
                <a:ea typeface="+mn-ea"/>
                <a:cs typeface="+mn-cs"/>
              </a:defRPr>
            </a:lvl8pPr>
            <a:lvl9pPr marL="18268315" indent="-1074420" algn="l" defTabSz="4298315" rtl="0" eaLnBrk="1" latinLnBrk="0" hangingPunct="1">
              <a:spcBef>
                <a:spcPct val="20000"/>
              </a:spcBef>
              <a:buFont typeface="Arial" panose="020B0704020202090204" pitchFamily="34" charset="0"/>
              <a:buChar char="•"/>
              <a:defRPr sz="9500" kern="1200">
                <a:solidFill>
                  <a:schemeClr val="tx1"/>
                </a:solidFill>
                <a:latin typeface="+mn-lt"/>
                <a:ea typeface="+mn-ea"/>
                <a:cs typeface="+mn-cs"/>
              </a:defRPr>
            </a:lvl9pPr>
          </a:lstStyle>
          <a:p>
            <a:pPr marL="0" marR="0" lvl="0" indent="0" algn="ctr" defTabSz="4298315" rtl="0" eaLnBrk="1" fontAlgn="auto" latinLnBrk="0" hangingPunct="1">
              <a:lnSpc>
                <a:spcPct val="100000"/>
              </a:lnSpc>
              <a:spcBef>
                <a:spcPct val="20000"/>
              </a:spcBef>
              <a:spcAft>
                <a:spcPts val="0"/>
              </a:spcAft>
              <a:buClrTx/>
              <a:buSzTx/>
              <a:buFontTx/>
              <a:buNone/>
              <a:defRPr/>
            </a:pPr>
            <a:r>
              <a:rPr kumimoji="0" lang="en-US" altLang="zh-CN" sz="2400" b="0" i="0" u="none" strike="noStrike" kern="1200" cap="none" spc="0" normalizeH="0" baseline="0" noProof="0" dirty="0">
                <a:ln>
                  <a:noFill/>
                </a:ln>
                <a:solidFill>
                  <a:sysClr val="window" lastClr="FFFFFF"/>
                </a:solidFill>
                <a:effectLst/>
                <a:uLnTx/>
                <a:uFillTx/>
                <a:latin typeface="Calibri"/>
                <a:ea typeface="宋体" pitchFamily="2" charset="-122"/>
                <a:cs typeface="+mn-cs"/>
              </a:rPr>
              <a:t>Authors</a:t>
            </a:r>
            <a:r>
              <a:rPr kumimoji="0" lang="zh-CN" altLang="en-US" sz="2400" b="0" i="0" u="none" strike="noStrike" kern="1200" cap="none" spc="0" normalizeH="0" baseline="0" noProof="0" dirty="0">
                <a:ln>
                  <a:noFill/>
                </a:ln>
                <a:solidFill>
                  <a:sysClr val="window" lastClr="FFFFFF"/>
                </a:solidFill>
                <a:effectLst/>
                <a:uLnTx/>
                <a:uFillTx/>
                <a:latin typeface="Calibri"/>
                <a:ea typeface="宋体" pitchFamily="2" charset="-122"/>
                <a:cs typeface="+mn-cs"/>
              </a:rPr>
              <a:t>：</a:t>
            </a:r>
            <a:r>
              <a:rPr kumimoji="0" lang="en-US" altLang="zh-CN" sz="2400" b="0" i="0" u="none" strike="noStrike" kern="1200" cap="none" spc="0" normalizeH="0" baseline="0" noProof="0" dirty="0">
                <a:ln>
                  <a:noFill/>
                </a:ln>
                <a:solidFill>
                  <a:sysClr val="window" lastClr="FFFFFF"/>
                </a:solidFill>
                <a:effectLst/>
                <a:uLnTx/>
                <a:uFillTx/>
                <a:latin typeface="Calibri"/>
                <a:ea typeface="宋体" pitchFamily="2" charset="-122"/>
                <a:cs typeface="+mn-cs"/>
              </a:rPr>
              <a:t>Liwei.Xu</a:t>
            </a:r>
            <a:endParaRPr kumimoji="0" lang="en-US" altLang="zh-CN" sz="2400" b="0" i="0" u="none" strike="noStrike" kern="1200" cap="none" spc="0" normalizeH="0" baseline="0" noProof="0" dirty="0">
              <a:ln>
                <a:noFill/>
              </a:ln>
              <a:solidFill>
                <a:sysClr val="window" lastClr="FFFFFF"/>
              </a:solidFill>
              <a:effectLst/>
              <a:uLnTx/>
              <a:uFillTx/>
              <a:latin typeface="Calibri"/>
              <a:ea typeface="宋体" pitchFamily="2" charset="-122"/>
              <a:cs typeface="+mn-cs"/>
            </a:endParaRPr>
          </a:p>
          <a:p>
            <a:pPr marL="0" marR="0" lvl="0" indent="0" algn="ctr" defTabSz="4298315" rtl="0" eaLnBrk="1" fontAlgn="auto" latinLnBrk="0" hangingPunct="1">
              <a:lnSpc>
                <a:spcPct val="100000"/>
              </a:lnSpc>
              <a:spcBef>
                <a:spcPct val="20000"/>
              </a:spcBef>
              <a:spcAft>
                <a:spcPts val="0"/>
              </a:spcAft>
              <a:buClrTx/>
              <a:buSzTx/>
              <a:buFontTx/>
              <a:buNone/>
              <a:defRPr/>
            </a:pPr>
            <a:endParaRPr kumimoji="0" lang="en-US" sz="2400" b="0" i="0" u="none" strike="noStrike" kern="1200" cap="none" spc="0" normalizeH="0" baseline="0" noProof="0" dirty="0">
              <a:ln>
                <a:noFill/>
              </a:ln>
              <a:solidFill>
                <a:sysClr val="window" lastClr="FFFFFF"/>
              </a:solidFill>
              <a:effectLst/>
              <a:uLnTx/>
              <a:uFillTx/>
              <a:latin typeface="Calibri"/>
              <a:ea typeface="+mn-ea"/>
              <a:cs typeface="+mn-cs"/>
            </a:endParaRPr>
          </a:p>
        </p:txBody>
      </p:sp>
      <p:sp>
        <p:nvSpPr>
          <p:cNvPr id="24" name="Text Placeholder 382"/>
          <p:cNvSpPr txBox="1"/>
          <p:nvPr/>
        </p:nvSpPr>
        <p:spPr>
          <a:xfrm>
            <a:off x="3428862" y="2008265"/>
            <a:ext cx="6789529" cy="923116"/>
          </a:xfrm>
          <a:prstGeom prst="rect">
            <a:avLst/>
          </a:prstGeom>
        </p:spPr>
        <p:txBody>
          <a:bodyPr lIns="77349" tIns="38675" rIns="77349" bIns="38675">
            <a:normAutofit/>
          </a:bodyPr>
          <a:lstStyle>
            <a:lvl1pPr marL="0" indent="0" algn="ctr" defTabSz="4298315" rtl="0" eaLnBrk="1" latinLnBrk="0" hangingPunct="1">
              <a:spcBef>
                <a:spcPct val="20000"/>
              </a:spcBef>
              <a:buFontTx/>
              <a:buNone/>
              <a:defRPr sz="5400" kern="1200">
                <a:solidFill>
                  <a:schemeClr val="bg1"/>
                </a:solidFill>
                <a:latin typeface="+mj-lt"/>
                <a:ea typeface="+mn-ea"/>
                <a:cs typeface="+mn-cs"/>
              </a:defRPr>
            </a:lvl1pPr>
            <a:lvl2pPr marL="3492500" indent="-1343025" algn="l" defTabSz="4298315" rtl="0" eaLnBrk="1" latinLnBrk="0" hangingPunct="1">
              <a:spcBef>
                <a:spcPct val="20000"/>
              </a:spcBef>
              <a:buFontTx/>
              <a:buNone/>
              <a:defRPr sz="6100" kern="1200">
                <a:solidFill>
                  <a:schemeClr val="tx1"/>
                </a:solidFill>
                <a:latin typeface="+mn-lt"/>
                <a:ea typeface="+mn-ea"/>
                <a:cs typeface="+mn-cs"/>
              </a:defRPr>
            </a:lvl2pPr>
            <a:lvl3pPr marL="5372735" indent="-1074420" algn="l" defTabSz="4298315" rtl="0" eaLnBrk="1" latinLnBrk="0" hangingPunct="1">
              <a:spcBef>
                <a:spcPct val="20000"/>
              </a:spcBef>
              <a:buFontTx/>
              <a:buNone/>
              <a:defRPr sz="6100" kern="1200">
                <a:solidFill>
                  <a:schemeClr val="tx1"/>
                </a:solidFill>
                <a:latin typeface="+mn-lt"/>
                <a:ea typeface="+mn-ea"/>
                <a:cs typeface="+mn-cs"/>
              </a:defRPr>
            </a:lvl3pPr>
            <a:lvl4pPr marL="7522210" indent="-1074420" algn="l" defTabSz="4298315" rtl="0" eaLnBrk="1" latinLnBrk="0" hangingPunct="1">
              <a:spcBef>
                <a:spcPct val="20000"/>
              </a:spcBef>
              <a:buFontTx/>
              <a:buNone/>
              <a:defRPr sz="6100" kern="1200">
                <a:solidFill>
                  <a:schemeClr val="tx1"/>
                </a:solidFill>
                <a:latin typeface="+mn-lt"/>
                <a:ea typeface="+mn-ea"/>
                <a:cs typeface="+mn-cs"/>
              </a:defRPr>
            </a:lvl4pPr>
            <a:lvl5pPr marL="9671685" indent="-1074420" algn="l" defTabSz="4298315" rtl="0" eaLnBrk="1" latinLnBrk="0" hangingPunct="1">
              <a:spcBef>
                <a:spcPct val="20000"/>
              </a:spcBef>
              <a:buFontTx/>
              <a:buNone/>
              <a:defRPr sz="6100" kern="1200">
                <a:solidFill>
                  <a:schemeClr val="tx1"/>
                </a:solidFill>
                <a:latin typeface="+mn-lt"/>
                <a:ea typeface="+mn-ea"/>
                <a:cs typeface="+mn-cs"/>
              </a:defRPr>
            </a:lvl5pPr>
            <a:lvl6pPr marL="11820525" indent="-1074420" algn="l" defTabSz="4298315" rtl="0" eaLnBrk="1" latinLnBrk="0" hangingPunct="1">
              <a:spcBef>
                <a:spcPct val="20000"/>
              </a:spcBef>
              <a:buFont typeface="Arial" panose="020B0704020202090204" pitchFamily="34" charset="0"/>
              <a:buChar char="•"/>
              <a:defRPr sz="9500" kern="1200">
                <a:solidFill>
                  <a:schemeClr val="tx1"/>
                </a:solidFill>
                <a:latin typeface="+mn-lt"/>
                <a:ea typeface="+mn-ea"/>
                <a:cs typeface="+mn-cs"/>
              </a:defRPr>
            </a:lvl6pPr>
            <a:lvl7pPr marL="13970000" indent="-1074420" algn="l" defTabSz="4298315" rtl="0" eaLnBrk="1" latinLnBrk="0" hangingPunct="1">
              <a:spcBef>
                <a:spcPct val="20000"/>
              </a:spcBef>
              <a:buFont typeface="Arial" panose="020B0704020202090204" pitchFamily="34" charset="0"/>
              <a:buChar char="•"/>
              <a:defRPr sz="9500" kern="1200">
                <a:solidFill>
                  <a:schemeClr val="tx1"/>
                </a:solidFill>
                <a:latin typeface="+mn-lt"/>
                <a:ea typeface="+mn-ea"/>
                <a:cs typeface="+mn-cs"/>
              </a:defRPr>
            </a:lvl7pPr>
            <a:lvl8pPr marL="16118840" indent="-1074420" algn="l" defTabSz="4298315" rtl="0" eaLnBrk="1" latinLnBrk="0" hangingPunct="1">
              <a:spcBef>
                <a:spcPct val="20000"/>
              </a:spcBef>
              <a:buFont typeface="Arial" panose="020B0704020202090204" pitchFamily="34" charset="0"/>
              <a:buChar char="•"/>
              <a:defRPr sz="9500" kern="1200">
                <a:solidFill>
                  <a:schemeClr val="tx1"/>
                </a:solidFill>
                <a:latin typeface="+mn-lt"/>
                <a:ea typeface="+mn-ea"/>
                <a:cs typeface="+mn-cs"/>
              </a:defRPr>
            </a:lvl8pPr>
            <a:lvl9pPr marL="18268315" indent="-1074420" algn="l" defTabSz="4298315" rtl="0" eaLnBrk="1" latinLnBrk="0" hangingPunct="1">
              <a:spcBef>
                <a:spcPct val="20000"/>
              </a:spcBef>
              <a:buFont typeface="Arial" panose="020B0704020202090204" pitchFamily="34" charset="0"/>
              <a:buChar char="•"/>
              <a:defRPr sz="9500" kern="1200">
                <a:solidFill>
                  <a:schemeClr val="tx1"/>
                </a:solidFill>
                <a:latin typeface="+mn-lt"/>
                <a:ea typeface="+mn-ea"/>
                <a:cs typeface="+mn-cs"/>
              </a:defRPr>
            </a:lvl9pPr>
          </a:lstStyle>
          <a:p>
            <a:pPr marL="0" marR="0" lvl="0" indent="0" algn="ctr" defTabSz="4298315" rtl="0" eaLnBrk="1" fontAlgn="auto" latinLnBrk="0" hangingPunct="1">
              <a:lnSpc>
                <a:spcPct val="100000"/>
              </a:lnSpc>
              <a:spcBef>
                <a:spcPct val="20000"/>
              </a:spcBef>
              <a:spcAft>
                <a:spcPts val="0"/>
              </a:spcAft>
              <a:buClrTx/>
              <a:buSzTx/>
              <a:buFontTx/>
              <a:buNone/>
              <a:defRPr/>
            </a:pPr>
            <a:endParaRPr kumimoji="0" lang="en-US" sz="5400" b="0" i="0" u="none" strike="noStrike" kern="1200" cap="none" spc="0" normalizeH="0" baseline="0" noProof="0" dirty="0">
              <a:ln>
                <a:noFill/>
              </a:ln>
              <a:solidFill>
                <a:sysClr val="window" lastClr="FFFFFF"/>
              </a:solidFill>
              <a:effectLst/>
              <a:uLnTx/>
              <a:uFillTx/>
              <a:latin typeface="Calibri"/>
              <a:ea typeface="+mn-ea"/>
              <a:cs typeface="+mn-cs"/>
            </a:endParaRPr>
          </a:p>
        </p:txBody>
      </p:sp>
      <p:sp>
        <p:nvSpPr>
          <p:cNvPr id="34" name="文本框 33"/>
          <p:cNvSpPr txBox="1"/>
          <p:nvPr/>
        </p:nvSpPr>
        <p:spPr>
          <a:xfrm>
            <a:off x="186690" y="5325110"/>
            <a:ext cx="6776085" cy="3340735"/>
          </a:xfrm>
          <a:prstGeom prst="rect">
            <a:avLst/>
          </a:prstGeom>
          <a:noFill/>
        </p:spPr>
        <p:txBody>
          <a:bodyPr wrap="square" rtlCol="0">
            <a:noAutofit/>
          </a:bodyPr>
          <a:lstStyle/>
          <a:p>
            <a:r>
              <a:rPr lang="en-US" altLang="zh-CN" sz="2400" b="1" dirty="0">
                <a:solidFill>
                  <a:schemeClr val="accent1">
                    <a:lumMod val="75000"/>
                  </a:schemeClr>
                </a:solidFill>
              </a:rPr>
              <a:t>Motivation</a:t>
            </a:r>
            <a:endParaRPr lang="en-US" altLang="zh-CN" sz="2400" b="1" dirty="0">
              <a:solidFill>
                <a:schemeClr val="accent1">
                  <a:lumMod val="75000"/>
                </a:schemeClr>
              </a:solidFill>
            </a:endParaRPr>
          </a:p>
          <a:p>
            <a:r>
              <a:rPr lang="en-US" altLang="zh-CN" sz="1600" dirty="0"/>
              <a:t>Long-form novels contain dense information about characters, places, organizations, and events dispersed across chapters, and key relations are often expressed implicitly. This makes manual curation costly and weakens traceability. We build an end-to-end system that transforms raw TXT novels into a Neo4j knowledge graph and supports GraphRAG-based question answering. The pipeline segments text into overlapping chapter-level chunks with stable chapter_id and chunk_id provenance anchors, then uses an LLM to extract entities with attributes, entity-grounded events, and entity–entity/entity–event relations, retaining evidence spans for interpretability. The resulting graph is ingested into Neo4j for querying and visualization, and a multi-turn chatbot streams responses via SSE with citation-style evidence snippets.</a:t>
            </a:r>
            <a:endParaRPr lang="en-US" altLang="zh-CN" sz="1600" dirty="0"/>
          </a:p>
          <a:p>
            <a:endParaRPr lang="en-US" altLang="zh-CN" sz="1600" dirty="0"/>
          </a:p>
          <a:p>
            <a:endParaRPr lang="en-US" altLang="zh-CN" sz="2400" b="1" dirty="0">
              <a:solidFill>
                <a:schemeClr val="accent1">
                  <a:lumMod val="75000"/>
                </a:schemeClr>
              </a:solidFill>
            </a:endParaRPr>
          </a:p>
          <a:p>
            <a:endParaRPr lang="zh-CN" altLang="en-US" dirty="0"/>
          </a:p>
        </p:txBody>
      </p:sp>
      <p:sp>
        <p:nvSpPr>
          <p:cNvPr id="7" name="文本框 6"/>
          <p:cNvSpPr txBox="1"/>
          <p:nvPr/>
        </p:nvSpPr>
        <p:spPr>
          <a:xfrm>
            <a:off x="7185660" y="12825730"/>
            <a:ext cx="7077710" cy="337185"/>
          </a:xfrm>
          <a:prstGeom prst="rect">
            <a:avLst/>
          </a:prstGeom>
          <a:noFill/>
        </p:spPr>
        <p:txBody>
          <a:bodyPr wrap="square" rtlCol="0">
            <a:spAutoFit/>
          </a:bodyPr>
          <a:lstStyle>
            <a:defPPr>
              <a:defRPr lang="zh-CN"/>
            </a:defPPr>
            <a:lvl1pPr>
              <a:defRPr>
                <a:latin typeface="+mn-ea"/>
              </a:defRPr>
            </a:lvl1pPr>
          </a:lstStyle>
          <a:p>
            <a:pPr algn="ctr"/>
            <a:r>
              <a:rPr lang="en-US" altLang="zh-CN" sz="1600" dirty="0"/>
              <a:t>Figure 1. </a:t>
            </a:r>
            <a:r>
              <a:rPr lang="en-US" altLang="zh-CN" sz="1600" b="1" dirty="0"/>
              <a:t>End-to-End pipeline from novel text to KG and GraphRAG</a:t>
            </a:r>
            <a:endParaRPr lang="en-US" altLang="zh-CN" sz="1600" b="1" dirty="0"/>
          </a:p>
        </p:txBody>
      </p:sp>
      <p:sp>
        <p:nvSpPr>
          <p:cNvPr id="9" name="Text Placeholder 383"/>
          <p:cNvSpPr txBox="1"/>
          <p:nvPr/>
        </p:nvSpPr>
        <p:spPr>
          <a:xfrm>
            <a:off x="2077085" y="1771650"/>
            <a:ext cx="10193020" cy="461645"/>
          </a:xfrm>
          <a:prstGeom prst="rect">
            <a:avLst/>
          </a:prstGeom>
        </p:spPr>
        <p:txBody>
          <a:bodyPr lIns="77349" tIns="38675" rIns="77349" bIns="38675" anchor="t" anchorCtr="1">
            <a:normAutofit/>
          </a:bodyPr>
          <a:lstStyle>
            <a:lvl1pPr marL="0" indent="0" algn="ctr" defTabSz="4298315" rtl="0" eaLnBrk="1" latinLnBrk="0" hangingPunct="1">
              <a:spcBef>
                <a:spcPct val="20000"/>
              </a:spcBef>
              <a:buFontTx/>
              <a:buNone/>
              <a:defRPr sz="7200" kern="1200">
                <a:solidFill>
                  <a:schemeClr val="bg1"/>
                </a:solidFill>
                <a:latin typeface="+mj-lt"/>
                <a:ea typeface="+mn-ea"/>
                <a:cs typeface="+mn-cs"/>
              </a:defRPr>
            </a:lvl1pPr>
            <a:lvl2pPr marL="3492500" indent="-1343025" algn="l" defTabSz="4298315" rtl="0" eaLnBrk="1" latinLnBrk="0" hangingPunct="1">
              <a:spcBef>
                <a:spcPct val="20000"/>
              </a:spcBef>
              <a:buFontTx/>
              <a:buNone/>
              <a:defRPr sz="6100" kern="1200">
                <a:solidFill>
                  <a:schemeClr val="tx1"/>
                </a:solidFill>
                <a:latin typeface="+mn-lt"/>
                <a:ea typeface="+mn-ea"/>
                <a:cs typeface="+mn-cs"/>
              </a:defRPr>
            </a:lvl2pPr>
            <a:lvl3pPr marL="5372735" indent="-1074420" algn="l" defTabSz="4298315" rtl="0" eaLnBrk="1" latinLnBrk="0" hangingPunct="1">
              <a:spcBef>
                <a:spcPct val="20000"/>
              </a:spcBef>
              <a:buFontTx/>
              <a:buNone/>
              <a:defRPr sz="6100" kern="1200">
                <a:solidFill>
                  <a:schemeClr val="tx1"/>
                </a:solidFill>
                <a:latin typeface="+mn-lt"/>
                <a:ea typeface="+mn-ea"/>
                <a:cs typeface="+mn-cs"/>
              </a:defRPr>
            </a:lvl3pPr>
            <a:lvl4pPr marL="7522210" indent="-1074420" algn="l" defTabSz="4298315" rtl="0" eaLnBrk="1" latinLnBrk="0" hangingPunct="1">
              <a:spcBef>
                <a:spcPct val="20000"/>
              </a:spcBef>
              <a:buFontTx/>
              <a:buNone/>
              <a:defRPr sz="6100" kern="1200">
                <a:solidFill>
                  <a:schemeClr val="tx1"/>
                </a:solidFill>
                <a:latin typeface="+mn-lt"/>
                <a:ea typeface="+mn-ea"/>
                <a:cs typeface="+mn-cs"/>
              </a:defRPr>
            </a:lvl4pPr>
            <a:lvl5pPr marL="9671685" indent="-1074420" algn="l" defTabSz="4298315" rtl="0" eaLnBrk="1" latinLnBrk="0" hangingPunct="1">
              <a:spcBef>
                <a:spcPct val="20000"/>
              </a:spcBef>
              <a:buFontTx/>
              <a:buNone/>
              <a:defRPr sz="6100" kern="1200">
                <a:solidFill>
                  <a:schemeClr val="tx1"/>
                </a:solidFill>
                <a:latin typeface="+mn-lt"/>
                <a:ea typeface="+mn-ea"/>
                <a:cs typeface="+mn-cs"/>
              </a:defRPr>
            </a:lvl5pPr>
            <a:lvl6pPr marL="11820525" indent="-1074420" algn="l" defTabSz="4298315" rtl="0" eaLnBrk="1" latinLnBrk="0" hangingPunct="1">
              <a:spcBef>
                <a:spcPct val="20000"/>
              </a:spcBef>
              <a:buFont typeface="Arial" panose="020B0704020202090204" pitchFamily="34" charset="0"/>
              <a:buChar char="•"/>
              <a:defRPr sz="9500" kern="1200">
                <a:solidFill>
                  <a:schemeClr val="tx1"/>
                </a:solidFill>
                <a:latin typeface="+mn-lt"/>
                <a:ea typeface="+mn-ea"/>
                <a:cs typeface="+mn-cs"/>
              </a:defRPr>
            </a:lvl6pPr>
            <a:lvl7pPr marL="13970000" indent="-1074420" algn="l" defTabSz="4298315" rtl="0" eaLnBrk="1" latinLnBrk="0" hangingPunct="1">
              <a:spcBef>
                <a:spcPct val="20000"/>
              </a:spcBef>
              <a:buFont typeface="Arial" panose="020B0704020202090204" pitchFamily="34" charset="0"/>
              <a:buChar char="•"/>
              <a:defRPr sz="9500" kern="1200">
                <a:solidFill>
                  <a:schemeClr val="tx1"/>
                </a:solidFill>
                <a:latin typeface="+mn-lt"/>
                <a:ea typeface="+mn-ea"/>
                <a:cs typeface="+mn-cs"/>
              </a:defRPr>
            </a:lvl7pPr>
            <a:lvl8pPr marL="16118840" indent="-1074420" algn="l" defTabSz="4298315" rtl="0" eaLnBrk="1" latinLnBrk="0" hangingPunct="1">
              <a:spcBef>
                <a:spcPct val="20000"/>
              </a:spcBef>
              <a:buFont typeface="Arial" panose="020B0704020202090204" pitchFamily="34" charset="0"/>
              <a:buChar char="•"/>
              <a:defRPr sz="9500" kern="1200">
                <a:solidFill>
                  <a:schemeClr val="tx1"/>
                </a:solidFill>
                <a:latin typeface="+mn-lt"/>
                <a:ea typeface="+mn-ea"/>
                <a:cs typeface="+mn-cs"/>
              </a:defRPr>
            </a:lvl8pPr>
            <a:lvl9pPr marL="18268315" indent="-1074420" algn="l" defTabSz="4298315" rtl="0" eaLnBrk="1" latinLnBrk="0" hangingPunct="1">
              <a:spcBef>
                <a:spcPct val="20000"/>
              </a:spcBef>
              <a:buFont typeface="Arial" panose="020B0704020202090204" pitchFamily="34" charset="0"/>
              <a:buChar char="•"/>
              <a:defRPr sz="9500" kern="1200">
                <a:solidFill>
                  <a:schemeClr val="tx1"/>
                </a:solidFill>
                <a:latin typeface="+mn-lt"/>
                <a:ea typeface="+mn-ea"/>
                <a:cs typeface="+mn-cs"/>
              </a:defRPr>
            </a:lvl9pPr>
          </a:lstStyle>
          <a:p>
            <a:pPr marL="0" marR="0" lvl="0" indent="0" algn="ctr" defTabSz="4298315" rtl="0" eaLnBrk="1" fontAlgn="auto" latinLnBrk="0" hangingPunct="1">
              <a:lnSpc>
                <a:spcPct val="100000"/>
              </a:lnSpc>
              <a:spcBef>
                <a:spcPct val="20000"/>
              </a:spcBef>
              <a:spcAft>
                <a:spcPts val="0"/>
              </a:spcAft>
              <a:buClrTx/>
              <a:buSzTx/>
              <a:buFontTx/>
              <a:buNone/>
              <a:defRPr/>
            </a:pPr>
            <a:r>
              <a:rPr kumimoji="0" lang="en-US" altLang="zh-CN" sz="2400" b="0" i="0" u="none" strike="noStrike" kern="1200" cap="none" spc="0" normalizeH="0" baseline="0" noProof="0" dirty="0">
                <a:ln>
                  <a:noFill/>
                </a:ln>
                <a:solidFill>
                  <a:sysClr val="window" lastClr="FFFFFF"/>
                </a:solidFill>
                <a:effectLst/>
                <a:uLnTx/>
                <a:uFillTx/>
                <a:latin typeface="Calibri"/>
                <a:ea typeface="宋体" pitchFamily="2" charset="-122"/>
                <a:cs typeface="+mn-cs"/>
              </a:rPr>
              <a:t>Supervisor</a:t>
            </a:r>
            <a:r>
              <a:rPr kumimoji="0" lang="zh-CN" altLang="en-US" sz="2400" b="0" i="0" u="none" strike="noStrike" kern="1200" cap="none" spc="0" normalizeH="0" baseline="0" noProof="0" dirty="0">
                <a:ln>
                  <a:noFill/>
                </a:ln>
                <a:solidFill>
                  <a:sysClr val="window" lastClr="FFFFFF"/>
                </a:solidFill>
                <a:effectLst/>
                <a:uLnTx/>
                <a:uFillTx/>
                <a:latin typeface="Calibri"/>
                <a:ea typeface="宋体" pitchFamily="2" charset="-122"/>
                <a:cs typeface="+mn-cs"/>
              </a:rPr>
              <a:t>：</a:t>
            </a:r>
            <a:r>
              <a:rPr kumimoji="0" lang="en-US" altLang="zh-CN" sz="2400" b="0" i="0" u="none" strike="noStrike" kern="1200" cap="none" spc="0" normalizeH="0" baseline="0" noProof="0" dirty="0">
                <a:ln>
                  <a:noFill/>
                </a:ln>
                <a:solidFill>
                  <a:sysClr val="window" lastClr="FFFFFF"/>
                </a:solidFill>
                <a:effectLst/>
                <a:uLnTx/>
                <a:uFillTx/>
                <a:latin typeface="Calibri"/>
                <a:ea typeface="宋体" pitchFamily="2" charset="-122"/>
                <a:cs typeface="+mn-cs"/>
              </a:rPr>
              <a:t>Chengtao.Ji</a:t>
            </a:r>
            <a:endParaRPr kumimoji="0" lang="en-US" altLang="zh-CN" sz="2400" b="0" i="0" u="none" strike="noStrike" kern="1200" cap="none" spc="0" normalizeH="0" baseline="0" noProof="0" dirty="0">
              <a:ln>
                <a:noFill/>
              </a:ln>
              <a:solidFill>
                <a:sysClr val="window" lastClr="FFFFFF"/>
              </a:solidFill>
              <a:effectLst/>
              <a:uLnTx/>
              <a:uFillTx/>
              <a:latin typeface="Calibri"/>
              <a:ea typeface="宋体" pitchFamily="2" charset="-122"/>
              <a:cs typeface="+mn-cs"/>
            </a:endParaRPr>
          </a:p>
          <a:p>
            <a:pPr marL="0" marR="0" lvl="0" indent="0" algn="ctr" defTabSz="4298315" rtl="0" eaLnBrk="1" fontAlgn="auto" latinLnBrk="0" hangingPunct="1">
              <a:lnSpc>
                <a:spcPct val="100000"/>
              </a:lnSpc>
              <a:spcBef>
                <a:spcPct val="20000"/>
              </a:spcBef>
              <a:spcAft>
                <a:spcPts val="0"/>
              </a:spcAft>
              <a:buClrTx/>
              <a:buSzTx/>
              <a:buFontTx/>
              <a:buNone/>
              <a:defRPr/>
            </a:pPr>
            <a:endParaRPr kumimoji="0" lang="en-US" sz="2400" b="0" i="0" u="none" strike="noStrike" kern="1200" cap="none" spc="0" normalizeH="0" baseline="0" noProof="0" dirty="0">
              <a:ln>
                <a:noFill/>
              </a:ln>
              <a:solidFill>
                <a:sysClr val="window" lastClr="FFFFFF"/>
              </a:solidFill>
              <a:effectLst/>
              <a:uLnTx/>
              <a:uFillTx/>
              <a:latin typeface="Calibri"/>
              <a:ea typeface="+mn-ea"/>
              <a:cs typeface="+mn-cs"/>
            </a:endParaRPr>
          </a:p>
        </p:txBody>
      </p:sp>
      <p:pic>
        <p:nvPicPr>
          <p:cNvPr id="11" name="图片 10" descr="Xnip2025-12-20_22-58-48"/>
          <p:cNvPicPr>
            <a:picLocks noChangeAspect="1"/>
          </p:cNvPicPr>
          <p:nvPr/>
        </p:nvPicPr>
        <p:blipFill>
          <a:blip r:embed="rId3"/>
          <a:stretch>
            <a:fillRect/>
          </a:stretch>
        </p:blipFill>
        <p:spPr>
          <a:xfrm>
            <a:off x="7275195" y="9217025"/>
            <a:ext cx="6901180" cy="3622675"/>
          </a:xfrm>
          <a:prstGeom prst="rect">
            <a:avLst/>
          </a:prstGeom>
        </p:spPr>
      </p:pic>
      <p:pic>
        <p:nvPicPr>
          <p:cNvPr id="12" name="图片 11" descr="Xnip2025-12-20_23-09-22"/>
          <p:cNvPicPr>
            <a:picLocks noChangeAspect="1"/>
          </p:cNvPicPr>
          <p:nvPr/>
        </p:nvPicPr>
        <p:blipFill>
          <a:blip r:embed="rId4"/>
          <a:stretch>
            <a:fillRect/>
          </a:stretch>
        </p:blipFill>
        <p:spPr>
          <a:xfrm>
            <a:off x="7247255" y="13123545"/>
            <a:ext cx="6992620" cy="3228975"/>
          </a:xfrm>
          <a:prstGeom prst="rect">
            <a:avLst/>
          </a:prstGeom>
        </p:spPr>
      </p:pic>
      <p:sp>
        <p:nvSpPr>
          <p:cNvPr id="13" name="文本框 12"/>
          <p:cNvSpPr txBox="1"/>
          <p:nvPr/>
        </p:nvSpPr>
        <p:spPr>
          <a:xfrm>
            <a:off x="7185660" y="16349980"/>
            <a:ext cx="7077710" cy="337185"/>
          </a:xfrm>
          <a:prstGeom prst="rect">
            <a:avLst/>
          </a:prstGeom>
          <a:noFill/>
        </p:spPr>
        <p:txBody>
          <a:bodyPr wrap="square" rtlCol="0">
            <a:spAutoFit/>
          </a:bodyPr>
          <a:lstStyle>
            <a:defPPr>
              <a:defRPr lang="zh-CN"/>
            </a:defPPr>
            <a:lvl1pPr>
              <a:defRPr>
                <a:latin typeface="+mn-ea"/>
              </a:defRPr>
            </a:lvl1pPr>
          </a:lstStyle>
          <a:p>
            <a:pPr algn="ctr"/>
            <a:r>
              <a:rPr lang="en-US" altLang="zh-CN" sz="1600" dirty="0"/>
              <a:t>Figure 2. </a:t>
            </a:r>
            <a:r>
              <a:rPr lang="en-US" altLang="zh-CN" sz="1600" b="1" dirty="0"/>
              <a:t>Neo4j schema and example ego-graph</a:t>
            </a:r>
            <a:endParaRPr lang="en-US" altLang="zh-CN" sz="1600" b="1" dirty="0"/>
          </a:p>
        </p:txBody>
      </p:sp>
      <p:sp>
        <p:nvSpPr>
          <p:cNvPr id="18" name="文本框 17"/>
          <p:cNvSpPr txBox="1"/>
          <p:nvPr/>
        </p:nvSpPr>
        <p:spPr>
          <a:xfrm>
            <a:off x="8425815" y="19270345"/>
            <a:ext cx="5075555" cy="321310"/>
          </a:xfrm>
          <a:prstGeom prst="rect">
            <a:avLst/>
          </a:prstGeom>
          <a:noFill/>
        </p:spPr>
        <p:txBody>
          <a:bodyPr wrap="square" rtlCol="0">
            <a:noAutofit/>
          </a:bodyPr>
          <a:lstStyle/>
          <a:p>
            <a:r>
              <a:rPr lang="en-US" altLang="zh-CN" sz="1600" b="1" dirty="0">
                <a:solidFill>
                  <a:schemeClr val="accent1">
                    <a:lumMod val="75000"/>
                  </a:schemeClr>
                </a:solidFill>
              </a:rPr>
              <a:t>System Summary (Development Deliverables): </a:t>
            </a:r>
            <a:endParaRPr lang="en-US" altLang="zh-CN" sz="1600" b="1" dirty="0">
              <a:solidFill>
                <a:schemeClr val="accent1">
                  <a:lumMod val="75000"/>
                </a:schemeClr>
              </a:solidFill>
            </a:endParaRPr>
          </a:p>
        </p:txBody>
      </p:sp>
      <p:sp>
        <p:nvSpPr>
          <p:cNvPr id="20" name="文本框 19"/>
          <p:cNvSpPr txBox="1"/>
          <p:nvPr/>
        </p:nvSpPr>
        <p:spPr>
          <a:xfrm>
            <a:off x="7756623" y="19619802"/>
            <a:ext cx="6028661" cy="1599565"/>
          </a:xfrm>
          <a:prstGeom prst="rect">
            <a:avLst/>
          </a:prstGeom>
          <a:noFill/>
        </p:spPr>
        <p:txBody>
          <a:bodyPr wrap="square" rtlCol="0">
            <a:spAutoFit/>
          </a:bodyPr>
          <a:lstStyle/>
          <a:p>
            <a:pPr marL="285750" indent="-285750" algn="l">
              <a:buFont typeface="Arial" panose="020B0704020202090204" pitchFamily="34" charset="0"/>
              <a:buChar char="•"/>
            </a:pPr>
            <a:r>
              <a:rPr lang="en-US" altLang="zh-CN" sz="1400" b="1" i="0" dirty="0">
                <a:solidFill>
                  <a:srgbClr val="1F2328"/>
                </a:solidFill>
                <a:effectLst/>
                <a:latin typeface="微软雅黑" panose="020B0503020204020204" charset="-122"/>
                <a:ea typeface="微软雅黑" panose="020B0503020204020204" charset="-122"/>
              </a:rPr>
              <a:t>Backend:</a:t>
            </a:r>
            <a:r>
              <a:rPr lang="en-US" altLang="zh-CN" sz="1400" b="0" i="0" dirty="0">
                <a:solidFill>
                  <a:srgbClr val="1F2328"/>
                </a:solidFill>
                <a:effectLst/>
                <a:latin typeface="微软雅黑" panose="020B0503020204020204" charset="-122"/>
                <a:ea typeface="微软雅黑" panose="020B0503020204020204" charset="-122"/>
              </a:rPr>
              <a:t>  FastAPI APIs for user module, graph retrieval, and GraphRAG chat (multi-turn).</a:t>
            </a:r>
            <a:endParaRPr lang="en-US" altLang="zh-CN" sz="1400" b="0" i="0" dirty="0">
              <a:solidFill>
                <a:srgbClr val="1F2328"/>
              </a:solidFill>
              <a:effectLst/>
              <a:latin typeface="微软雅黑" panose="020B0503020204020204" charset="-122"/>
              <a:ea typeface="微软雅黑" panose="020B0503020204020204" charset="-122"/>
            </a:endParaRPr>
          </a:p>
          <a:p>
            <a:pPr marL="285750" indent="-285750" algn="l">
              <a:buFont typeface="Arial" panose="020B0704020202090204" pitchFamily="34" charset="0"/>
              <a:buChar char="•"/>
            </a:pPr>
            <a:r>
              <a:rPr lang="en-US" altLang="zh-CN" sz="1400" b="1" i="0" dirty="0">
                <a:solidFill>
                  <a:srgbClr val="1F2328"/>
                </a:solidFill>
                <a:effectLst/>
                <a:latin typeface="微软雅黑" panose="020B0503020204020204" charset="-122"/>
                <a:ea typeface="微软雅黑" panose="020B0503020204020204" charset="-122"/>
              </a:rPr>
              <a:t>Database:</a:t>
            </a:r>
            <a:r>
              <a:rPr lang="en-US" altLang="zh-CN" sz="1400" b="0" i="0" dirty="0">
                <a:solidFill>
                  <a:srgbClr val="1F2328"/>
                </a:solidFill>
                <a:effectLst/>
                <a:latin typeface="微软雅黑" panose="020B0503020204020204" charset="-122"/>
                <a:ea typeface="微软雅黑" panose="020B0503020204020204" charset="-122"/>
              </a:rPr>
              <a:t> Neo4j schema with indexed nodes/edges and evidence properties, SQLite</a:t>
            </a:r>
            <a:endParaRPr lang="en-US" altLang="zh-CN" sz="1400" b="0" i="0" dirty="0">
              <a:solidFill>
                <a:srgbClr val="1F2328"/>
              </a:solidFill>
              <a:effectLst/>
              <a:latin typeface="微软雅黑" panose="020B0503020204020204" charset="-122"/>
              <a:ea typeface="微软雅黑" panose="020B0503020204020204" charset="-122"/>
            </a:endParaRPr>
          </a:p>
          <a:p>
            <a:pPr marL="285750" indent="-285750" algn="l">
              <a:buFont typeface="Arial" panose="020B0704020202090204" pitchFamily="34" charset="0"/>
              <a:buChar char="•"/>
            </a:pPr>
            <a:r>
              <a:rPr lang="en-US" altLang="zh-CN" sz="1400" b="1" i="0" dirty="0">
                <a:solidFill>
                  <a:srgbClr val="1F2328"/>
                </a:solidFill>
                <a:effectLst/>
                <a:latin typeface="微软雅黑" panose="020B0503020204020204" charset="-122"/>
                <a:ea typeface="微软雅黑" panose="020B0503020204020204" charset="-122"/>
              </a:rPr>
              <a:t>Frontend:</a:t>
            </a:r>
            <a:r>
              <a:rPr lang="en-US" altLang="zh-CN" sz="1400" b="0" i="0" dirty="0">
                <a:solidFill>
                  <a:srgbClr val="1F2328"/>
                </a:solidFill>
                <a:effectLst/>
                <a:latin typeface="微软雅黑" panose="020B0503020204020204" charset="-122"/>
                <a:ea typeface="微软雅黑" panose="020B0503020204020204" charset="-122"/>
              </a:rPr>
              <a:t>  Nuxt + Tailwind UI for graph browsing and chat; SSE-based streaming rendering.</a:t>
            </a:r>
            <a:endParaRPr lang="en-US" altLang="zh-CN" sz="1400" b="0" i="0" dirty="0">
              <a:solidFill>
                <a:srgbClr val="1F2328"/>
              </a:solidFill>
              <a:effectLst/>
              <a:latin typeface="微软雅黑" panose="020B0503020204020204" charset="-122"/>
              <a:ea typeface="微软雅黑" panose="020B0503020204020204" charset="-122"/>
            </a:endParaRPr>
          </a:p>
          <a:p>
            <a:pPr marL="285750" indent="-285750" algn="l">
              <a:buFont typeface="Arial" panose="020B0704020202090204" pitchFamily="34" charset="0"/>
              <a:buChar char="•"/>
            </a:pPr>
            <a:endParaRPr lang="en-US" altLang="zh-CN" sz="1400" b="0" i="0" dirty="0">
              <a:solidFill>
                <a:srgbClr val="1F2328"/>
              </a:solidFill>
              <a:effectLst/>
              <a:latin typeface="微软雅黑" panose="020B0503020204020204" charset="-122"/>
              <a:ea typeface="微软雅黑" panose="020B0503020204020204" charset="-122"/>
            </a:endParaRPr>
          </a:p>
        </p:txBody>
      </p:sp>
      <p:grpSp>
        <p:nvGrpSpPr>
          <p:cNvPr id="33" name="组合 32"/>
          <p:cNvGrpSpPr/>
          <p:nvPr/>
        </p:nvGrpSpPr>
        <p:grpSpPr>
          <a:xfrm>
            <a:off x="-99060" y="17032605"/>
            <a:ext cx="7077710" cy="3827780"/>
            <a:chOff x="-6" y="26348"/>
            <a:chExt cx="11146" cy="6028"/>
          </a:xfrm>
        </p:grpSpPr>
        <p:pic>
          <p:nvPicPr>
            <p:cNvPr id="22" name="图片 21" descr="5fac466084177bdead371120baf5806e"/>
            <p:cNvPicPr>
              <a:picLocks noChangeAspect="1"/>
            </p:cNvPicPr>
            <p:nvPr/>
          </p:nvPicPr>
          <p:blipFill>
            <a:blip r:embed="rId5"/>
            <a:stretch>
              <a:fillRect/>
            </a:stretch>
          </p:blipFill>
          <p:spPr>
            <a:xfrm>
              <a:off x="716" y="26348"/>
              <a:ext cx="4614" cy="2505"/>
            </a:xfrm>
            <a:prstGeom prst="rect">
              <a:avLst/>
            </a:prstGeom>
          </p:spPr>
        </p:pic>
        <p:pic>
          <p:nvPicPr>
            <p:cNvPr id="23" name="图片 22" descr="81840505da7d6738b45aa3c192b81daa"/>
            <p:cNvPicPr>
              <a:picLocks noChangeAspect="1"/>
            </p:cNvPicPr>
            <p:nvPr/>
          </p:nvPicPr>
          <p:blipFill>
            <a:blip r:embed="rId6"/>
            <a:stretch>
              <a:fillRect/>
            </a:stretch>
          </p:blipFill>
          <p:spPr>
            <a:xfrm>
              <a:off x="5729" y="26354"/>
              <a:ext cx="4785" cy="2598"/>
            </a:xfrm>
            <a:prstGeom prst="rect">
              <a:avLst/>
            </a:prstGeom>
          </p:spPr>
        </p:pic>
        <p:pic>
          <p:nvPicPr>
            <p:cNvPr id="25" name="图片 24" descr="8da2cca53260003fda40902c165ae28d"/>
            <p:cNvPicPr>
              <a:picLocks noChangeAspect="1"/>
            </p:cNvPicPr>
            <p:nvPr/>
          </p:nvPicPr>
          <p:blipFill>
            <a:blip r:embed="rId7"/>
            <a:stretch>
              <a:fillRect/>
            </a:stretch>
          </p:blipFill>
          <p:spPr>
            <a:xfrm>
              <a:off x="666" y="28972"/>
              <a:ext cx="4941" cy="2683"/>
            </a:xfrm>
            <a:prstGeom prst="rect">
              <a:avLst/>
            </a:prstGeom>
          </p:spPr>
        </p:pic>
        <p:pic>
          <p:nvPicPr>
            <p:cNvPr id="26" name="图片 25" descr="be9fc8cabbb66e238ff2e4c0a9d50218"/>
            <p:cNvPicPr>
              <a:picLocks noChangeAspect="1"/>
            </p:cNvPicPr>
            <p:nvPr/>
          </p:nvPicPr>
          <p:blipFill>
            <a:blip r:embed="rId8"/>
            <a:stretch>
              <a:fillRect/>
            </a:stretch>
          </p:blipFill>
          <p:spPr>
            <a:xfrm>
              <a:off x="5729" y="28958"/>
              <a:ext cx="5061" cy="2748"/>
            </a:xfrm>
            <a:prstGeom prst="rect">
              <a:avLst/>
            </a:prstGeom>
          </p:spPr>
        </p:pic>
        <p:sp>
          <p:nvSpPr>
            <p:cNvPr id="29" name="文本框 28"/>
            <p:cNvSpPr txBox="1"/>
            <p:nvPr/>
          </p:nvSpPr>
          <p:spPr>
            <a:xfrm>
              <a:off x="-6" y="31846"/>
              <a:ext cx="11146" cy="531"/>
            </a:xfrm>
            <a:prstGeom prst="rect">
              <a:avLst/>
            </a:prstGeom>
            <a:noFill/>
          </p:spPr>
          <p:txBody>
            <a:bodyPr wrap="square" rtlCol="0">
              <a:spAutoFit/>
            </a:bodyPr>
            <a:lstStyle>
              <a:defPPr>
                <a:defRPr lang="zh-CN"/>
              </a:defPPr>
              <a:lvl1pPr>
                <a:defRPr>
                  <a:latin typeface="+mn-ea"/>
                </a:defRPr>
              </a:lvl1pPr>
            </a:lstStyle>
            <a:p>
              <a:pPr algn="ctr"/>
              <a:r>
                <a:rPr lang="en-US" altLang="zh-CN" sz="1600" dirty="0"/>
                <a:t>Figure 3. GraphUI and Chat</a:t>
              </a:r>
              <a:r>
                <a:rPr lang="en-US" altLang="zh-CN" sz="1600" dirty="0"/>
                <a:t>UI</a:t>
              </a:r>
              <a:endParaRPr lang="en-US" altLang="zh-CN" sz="1600" dirty="0"/>
            </a:p>
          </p:txBody>
        </p:sp>
      </p:grpSp>
    </p:spTree>
    <p:custDataLst>
      <p:tags r:id="rId9"/>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p="http://schemas.openxmlformats.org/presentationml/2006/main">
  <p:tag name="COMMONDATA" val="eyJoZGlkIjoiMzQwOGJjMjA4MWU4MWRiN2Q0NTM0YWQ2ZjIzMWRlYjY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5199</Words>
  <Application>WPS 表格</Application>
  <PresentationFormat>自定义</PresentationFormat>
  <Paragraphs>66</Paragraphs>
  <Slides>1</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vt:i4>
      </vt:variant>
    </vt:vector>
  </HeadingPairs>
  <TitlesOfParts>
    <vt:vector size="15" baseType="lpstr">
      <vt:lpstr>Arial</vt:lpstr>
      <vt:lpstr>宋体</vt:lpstr>
      <vt:lpstr>Wingdings</vt:lpstr>
      <vt:lpstr>Wingdings</vt:lpstr>
      <vt:lpstr>Times New Roman</vt:lpstr>
      <vt:lpstr>微软雅黑</vt:lpstr>
      <vt:lpstr>汉仪旗黑</vt:lpstr>
      <vt:lpstr>Calibri</vt:lpstr>
      <vt:lpstr>汉仪书宋二KW</vt:lpstr>
      <vt:lpstr>Helvetica Neue</vt:lpstr>
      <vt:lpstr>宋体</vt:lpstr>
      <vt:lpstr>Arial Unicode MS</vt:lpstr>
      <vt:lpstr>微软雅黑</vt:lpstr>
      <vt:lpstr>WPS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张辰皓</dc:creator>
  <cp:lastModifiedBy>戒不掉水杨酸</cp:lastModifiedBy>
  <cp:revision>242</cp:revision>
  <dcterms:created xsi:type="dcterms:W3CDTF">2025-12-21T01:47:59Z</dcterms:created>
  <dcterms:modified xsi:type="dcterms:W3CDTF">2025-12-21T01:47:59Z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2052-12.1.24031.24031</vt:lpwstr>
  </property>
  <property fmtid="{D5CDD505-2E9C-101B-9397-08002B2CF9AE}" pid="3" name="ICV">
    <vt:lpwstr>F8B528520F39E3ADB57345698917D948_43</vt:lpwstr>
  </property>
</Properties>
</file>